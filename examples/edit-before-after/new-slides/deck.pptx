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quarter in our history, driven by the holiday campaign. Margin dipped on promotions and the shift to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fell 0.6 points on promotions and the shift to online. These four actions win it back in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9600" y="276225"/>
            <a:ext cx="10972800" cy="1143000"/>
          </a:xfrm>
          <a:prstGeom prst="rect">
            <a:avLst/>
          </a:prstGeom>
          <a:noFill/>
        </p:spPr>
        <p:txBody>
          <a:bodyPr wrap="none" lIns="0" tIns="254003" rIns="0" bIns="0" anchor="t" rtlCol="0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kern="0" dirty="0">
                <a:solidFill>
                  <a:schemeClr val="dk1"/>
                </a:solidFill>
                <a:latin typeface="+mj-lt"/>
                <a:cs typeface="Calibri"/>
              </a:rPr>
              <a:t>Record Q4: revenue up 22% to $19.8M</a:t>
            </a:r>
            <a:endParaRPr lang="en-US" sz="4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grpSp>
        <p:nvGrpSpPr>
          <p:cNvPr id="3" name="Stat revenue"/>
          <p:cNvGrpSpPr/>
          <p:nvPr/>
        </p:nvGrpSpPr>
        <p:grpSpPr>
          <a:xfrm>
            <a:off x="609600" y="2286000"/>
            <a:ext cx="3544348" cy="1828800"/>
            <a:chOff x="609600" y="2286000"/>
            <a:chExt cx="3544348" cy="1828800"/>
          </a:xfrm>
        </p:grpSpPr>
        <p:sp>
          <p:nvSpPr>
            <p:cNvPr id="4" name="TextBox 3"/>
            <p:cNvSpPr txBox="1"/>
            <p:nvPr/>
          </p:nvSpPr>
          <p:spPr>
            <a:xfrm>
              <a:off x="60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$19.8M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9600" y="3349628"/>
              <a:ext cx="3544348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best quarter yet,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$1.4M above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grpSp>
        <p:nvGrpSpPr>
          <p:cNvPr id="6" name="Stat margin"/>
          <p:cNvGrpSpPr/>
          <p:nvPr/>
        </p:nvGrpSpPr>
        <p:grpSpPr>
          <a:xfrm>
            <a:off x="4419600" y="2286000"/>
            <a:ext cx="3581400" cy="1828800"/>
            <a:chOff x="4419600" y="2286000"/>
            <a:chExt cx="3581400" cy="1828800"/>
          </a:xfrm>
        </p:grpSpPr>
        <p:sp>
          <p:nvSpPr>
            <p:cNvPr id="7" name="TextBox 6"/>
            <p:cNvSpPr txBox="1"/>
            <p:nvPr/>
          </p:nvSpPr>
          <p:spPr>
            <a:xfrm>
              <a:off x="441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40.6%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19600" y="3349628"/>
              <a:ext cx="3581400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gross margin,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down 0.6 points on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grpSp>
        <p:nvGrpSpPr>
          <p:cNvPr id="9" name="Stat online"/>
          <p:cNvGrpSpPr/>
          <p:nvPr/>
        </p:nvGrpSpPr>
        <p:grpSpPr>
          <a:xfrm>
            <a:off x="8229600" y="2286000"/>
            <a:ext cx="3581400" cy="1828800"/>
            <a:chOff x="8229600" y="2286000"/>
            <a:chExt cx="3581400" cy="1828800"/>
          </a:xfrm>
        </p:grpSpPr>
        <p:sp>
          <p:nvSpPr>
            <p:cNvPr id="10" name="TextBox 9"/>
            <p:cNvSpPr txBox="1"/>
            <p:nvPr/>
          </p:nvSpPr>
          <p:spPr>
            <a:xfrm>
              <a:off x="8229600" y="2286000"/>
              <a:ext cx="3352800" cy="914400"/>
            </a:xfrm>
            <a:prstGeom prst="rect">
              <a:avLst/>
            </a:prstGeom>
            <a:noFill/>
          </p:spPr>
          <p:txBody>
            <a:bodyPr wrap="none" lIns="0" tIns="47625" rIns="0" bIns="0" anchor="t" rtlCol="0">
              <a:noAutofit/>
            </a:bodyPr>
            <a:lstStyle/>
            <a:p>
              <a:pPr algn="l">
                <a:lnSpc>
                  <a:spcPts val="7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kern="0" dirty="0">
                  <a:solidFill>
                    <a:schemeClr val="dk2"/>
                  </a:solidFill>
                  <a:latin typeface="+mj-lt"/>
                  <a:cs typeface="Calibri"/>
                </a:rPr>
                <a:t>39%</a:t>
              </a:r>
              <a:endParaRPr lang="en-US" sz="6600" b="1" i="0" kern="0" dirty="0">
                <a:solidFill>
                  <a:schemeClr val="dk2"/>
                </a:solidFill>
                <a:latin typeface="+mj-lt"/>
                <a:cs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29600" y="3349628"/>
              <a:ext cx="3581400" cy="7651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of revenue online,</a:t>
              </a:r>
              <a:b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</a:br>
              <a:r>
                <a:rPr lang="en-US" sz="2400" b="0" i="0" kern="0" dirty="0">
                  <a:solidFill>
                    <a:srgbClr val="404040"/>
                  </a:solidFill>
                  <a:latin typeface="+mj-lt"/>
                  <a:cs typeface="Calibri"/>
                </a:rPr>
                <a:t>up from 34% in Q3</a:t>
              </a:r>
              <a:endParaRPr lang="en-US" sz="2400" b="0" i="0" kern="0" dirty="0">
                <a:solidFill>
                  <a:srgbClr val="404040"/>
                </a:solidFill>
                <a:latin typeface="+mj-lt"/>
                <a:cs typeface="Calibri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73628"/>
            <a:ext cx="109728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Holiday campaign sales beat plan by 7%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09600" y="276225"/>
            <a:ext cx="10972800" cy="1143000"/>
          </a:xfrm>
          <a:prstGeom prst="rect">
            <a:avLst/>
          </a:prstGeom>
          <a:noFill/>
        </p:spPr>
        <p:txBody>
          <a:bodyPr wrap="none" lIns="0" tIns="254003" rIns="0" bIns="0" anchor="t" rtlCol="0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kern="0" dirty="0">
                <a:solidFill>
                  <a:schemeClr val="dk1"/>
                </a:solidFill>
                <a:latin typeface="+mj-lt"/>
                <a:cs typeface="Calibri"/>
              </a:rPr>
              <a:t>Q1 priority: win back margin</a:t>
            </a:r>
            <a:endParaRPr lang="en-US" sz="4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18% → 12%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21113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Cut markdowns as a share of sales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8194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0480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2 outlets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1781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Close the two underperforming outlets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38862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1148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37.8% → 40%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42449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Lift the online gross margin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5181600"/>
            <a:ext cx="3657600" cy="533400"/>
          </a:xfrm>
          <a:prstGeom prst="rect">
            <a:avLst/>
          </a:prstGeom>
          <a:noFill/>
        </p:spPr>
        <p:txBody>
          <a:bodyPr wrap="none" lIns="0" tIns="3172" rIns="0" bIns="0" anchor="t" rtlCol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dk2"/>
                </a:solidFill>
                <a:latin typeface="+mj-lt"/>
                <a:cs typeface="Calibri"/>
              </a:rPr>
              <a:t>2 carriers</a:t>
            </a:r>
            <a:endParaRPr lang="en-US" sz="3600" b="1" i="0" kern="0" dirty="0">
              <a:solidFill>
                <a:schemeClr val="dk2"/>
              </a:solidFill>
              <a:latin typeface="+mj-lt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5311778"/>
            <a:ext cx="7010400" cy="38417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kern="0" dirty="0">
                <a:solidFill>
                  <a:schemeClr val="dk1"/>
                </a:solidFill>
                <a:latin typeface="+mj-lt"/>
                <a:cs typeface="Calibri"/>
              </a:rPr>
              <a:t>Renegotiate freight with both carriers</a:t>
            </a:r>
            <a:endParaRPr lang="en-US" sz="2400" b="0" i="0" kern="0" dirty="0">
              <a:solidFill>
                <a:schemeClr val="dk1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Business Review</dc:title>
  <dc:subject/>
  <dc:creator/>
  <cp:keywords/>
  <dc:description/>
  <cp:lastModifiedBy/>
  <cp:revision>1</cp:revision>
  <dcterms:created xsi:type="dcterms:W3CDTF">2026-10-10T06:54:40Z</dcterms:created>
  <dcterms:modified xsi:type="dcterms:W3CDTF">2026-10-10T06:54:40Z</dcterms:modified>
  <cp:category/>
</cp:coreProperties>
</file>