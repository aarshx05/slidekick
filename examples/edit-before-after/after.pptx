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4"/>
    <p:sldId id="258" r:id="rId10"/>
    <p:sldId id="259" r:id="rId11"/>
    <p:sldId id="263" r:id="rId9"/>
    <p:sldId id="264" r:id="rId15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2.xml"/><Relationship Id="rId15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$0.0"M"</c:formatCode>
                <c:ptCount val="4"/>
                <c:pt idx="0">
                  <c:v>14.8</c:v>
                </c:pt>
                <c:pt idx="1">
                  <c:v>16.9</c:v>
                </c:pt>
                <c:pt idx="2">
                  <c:v>18.4</c:v>
                </c:pt>
                <c:pt idx="3">
                  <c:v>19.8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Quarterly review of trading, regions and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Online beat plan by 9%, ahead of the 38% share target we set in October.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quarters of growth in a row after the Q1 dip. Q4 was our best quarter ever, up 22% on Q4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East returned to plan once the Albany store reopened after its refit.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quarter in our history, driven by the holiday campaign. Margin dipped on promotions and the shift to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fell 0.6 points on promotions and the shift to online. These four actions win it back in 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2026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Halden Outdoor Co. · January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609600" y="276225"/>
            <a:ext cx="10972800" cy="1143000"/>
          </a:xfrm>
          <a:prstGeom prst="rect">
            <a:avLst/>
          </a:prstGeom>
          <a:noFill/>
        </p:spPr>
        <p:txBody>
          <a:bodyPr wrap="none" lIns="0" tIns="254003" rIns="0" bIns="0" anchor="t" rtlCol="0">
            <a:no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kern="0" dirty="0">
                <a:solidFill>
                  <a:schemeClr val="dk1"/>
                </a:solidFill>
                <a:latin typeface="+mj-lt"/>
                <a:cs typeface="Calibri"/>
              </a:rPr>
              <a:t>Record Q4: revenue up 22% to $19.8M</a:t>
            </a:r>
            <a:endParaRPr lang="en-US" sz="4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  <p:grpSp>
        <p:nvGrpSpPr>
          <p:cNvPr id="3" name="Stat revenue"/>
          <p:cNvGrpSpPr/>
          <p:nvPr/>
        </p:nvGrpSpPr>
        <p:grpSpPr>
          <a:xfrm>
            <a:off x="609600" y="2286000"/>
            <a:ext cx="3544348" cy="1828800"/>
            <a:chOff x="609600" y="2286000"/>
            <a:chExt cx="3544348" cy="1828800"/>
          </a:xfrm>
        </p:grpSpPr>
        <p:sp>
          <p:nvSpPr>
            <p:cNvPr id="4" name="TextBox 3"/>
            <p:cNvSpPr txBox="1"/>
            <p:nvPr/>
          </p:nvSpPr>
          <p:spPr>
            <a:xfrm>
              <a:off x="609600" y="2286000"/>
              <a:ext cx="3352800" cy="914400"/>
            </a:xfrm>
            <a:prstGeom prst="rect">
              <a:avLst/>
            </a:prstGeom>
            <a:noFill/>
          </p:spPr>
          <p:txBody>
            <a:bodyPr wrap="none" lIns="0" tIns="47625" rIns="0" bIns="0" anchor="t" rtlCol="0">
              <a:noAutofit/>
            </a:bodyPr>
            <a:lstStyle/>
            <a:p>
              <a:pPr algn="l">
                <a:lnSpc>
                  <a:spcPts val="7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1" i="0" kern="0" dirty="0">
                  <a:solidFill>
                    <a:schemeClr val="dk2"/>
                  </a:solidFill>
                  <a:latin typeface="+mj-lt"/>
                  <a:cs typeface="Calibri"/>
                </a:rPr>
                <a:t>$19.8M</a:t>
              </a:r>
              <a:endParaRPr lang="en-US" sz="6600" b="1" i="0" kern="0" dirty="0">
                <a:solidFill>
                  <a:schemeClr val="dk2"/>
                </a:solidFill>
                <a:latin typeface="+mj-lt"/>
                <a:cs typeface="Calibri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09600" y="3349628"/>
              <a:ext cx="3544348" cy="7651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best quarter yet,</a:t>
              </a:r>
              <a:b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</a:b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$1.4M above Q3</a:t>
              </a:r>
              <a:endParaRPr lang="en-US" sz="2400" b="0" i="0" kern="0" dirty="0">
                <a:solidFill>
                  <a:srgbClr val="404040"/>
                </a:solidFill>
                <a:latin typeface="+mj-lt"/>
                <a:cs typeface="Calibri"/>
              </a:endParaRPr>
            </a:p>
          </p:txBody>
        </p:sp>
      </p:grpSp>
      <p:grpSp>
        <p:nvGrpSpPr>
          <p:cNvPr id="6" name="Stat margin"/>
          <p:cNvGrpSpPr/>
          <p:nvPr/>
        </p:nvGrpSpPr>
        <p:grpSpPr>
          <a:xfrm>
            <a:off x="4419600" y="2286000"/>
            <a:ext cx="3581400" cy="1828800"/>
            <a:chOff x="4419600" y="2286000"/>
            <a:chExt cx="3581400" cy="1828800"/>
          </a:xfrm>
        </p:grpSpPr>
        <p:sp>
          <p:nvSpPr>
            <p:cNvPr id="7" name="TextBox 6"/>
            <p:cNvSpPr txBox="1"/>
            <p:nvPr/>
          </p:nvSpPr>
          <p:spPr>
            <a:xfrm>
              <a:off x="4419600" y="2286000"/>
              <a:ext cx="3352800" cy="914400"/>
            </a:xfrm>
            <a:prstGeom prst="rect">
              <a:avLst/>
            </a:prstGeom>
            <a:noFill/>
          </p:spPr>
          <p:txBody>
            <a:bodyPr wrap="none" lIns="0" tIns="47625" rIns="0" bIns="0" anchor="t" rtlCol="0">
              <a:noAutofit/>
            </a:bodyPr>
            <a:lstStyle/>
            <a:p>
              <a:pPr algn="l">
                <a:lnSpc>
                  <a:spcPts val="7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1" i="0" kern="0" dirty="0">
                  <a:solidFill>
                    <a:schemeClr val="dk2"/>
                  </a:solidFill>
                  <a:latin typeface="+mj-lt"/>
                  <a:cs typeface="Calibri"/>
                </a:rPr>
                <a:t>40.6%</a:t>
              </a:r>
              <a:endParaRPr lang="en-US" sz="6600" b="1" i="0" kern="0" dirty="0">
                <a:solidFill>
                  <a:schemeClr val="dk2"/>
                </a:solidFill>
                <a:latin typeface="+mj-lt"/>
                <a:cs typeface="Calibri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19600" y="3349628"/>
              <a:ext cx="3581400" cy="7651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gross margin,</a:t>
              </a:r>
              <a:b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</a:b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down 0.6 points on Q3</a:t>
              </a:r>
              <a:endParaRPr lang="en-US" sz="2400" b="0" i="0" kern="0" dirty="0">
                <a:solidFill>
                  <a:srgbClr val="404040"/>
                </a:solidFill>
                <a:latin typeface="+mj-lt"/>
                <a:cs typeface="Calibri"/>
              </a:endParaRPr>
            </a:p>
          </p:txBody>
        </p:sp>
      </p:grpSp>
      <p:grpSp>
        <p:nvGrpSpPr>
          <p:cNvPr id="9" name="Stat online"/>
          <p:cNvGrpSpPr/>
          <p:nvPr/>
        </p:nvGrpSpPr>
        <p:grpSpPr>
          <a:xfrm>
            <a:off x="8229600" y="2286000"/>
            <a:ext cx="3581400" cy="1828800"/>
            <a:chOff x="8229600" y="2286000"/>
            <a:chExt cx="3581400" cy="1828800"/>
          </a:xfrm>
        </p:grpSpPr>
        <p:sp>
          <p:nvSpPr>
            <p:cNvPr id="10" name="TextBox 9"/>
            <p:cNvSpPr txBox="1"/>
            <p:nvPr/>
          </p:nvSpPr>
          <p:spPr>
            <a:xfrm>
              <a:off x="8229600" y="2286000"/>
              <a:ext cx="3352800" cy="914400"/>
            </a:xfrm>
            <a:prstGeom prst="rect">
              <a:avLst/>
            </a:prstGeom>
            <a:noFill/>
          </p:spPr>
          <p:txBody>
            <a:bodyPr wrap="none" lIns="0" tIns="47625" rIns="0" bIns="0" anchor="t" rtlCol="0">
              <a:noAutofit/>
            </a:bodyPr>
            <a:lstStyle/>
            <a:p>
              <a:pPr algn="l">
                <a:lnSpc>
                  <a:spcPts val="7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1" i="0" kern="0" dirty="0">
                  <a:solidFill>
                    <a:schemeClr val="dk2"/>
                  </a:solidFill>
                  <a:latin typeface="+mj-lt"/>
                  <a:cs typeface="Calibri"/>
                </a:rPr>
                <a:t>39%</a:t>
              </a:r>
              <a:endParaRPr lang="en-US" sz="6600" b="1" i="0" kern="0" dirty="0">
                <a:solidFill>
                  <a:schemeClr val="dk2"/>
                </a:solidFill>
                <a:latin typeface="+mj-lt"/>
                <a:cs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29600" y="3349628"/>
              <a:ext cx="3581400" cy="7651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of revenue online,</a:t>
              </a:r>
              <a:b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</a:b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up from 34% in Q3</a:t>
              </a:r>
              <a:endParaRPr lang="en-US" sz="2400" b="0" i="0" kern="0" dirty="0">
                <a:solidFill>
                  <a:srgbClr val="404040"/>
                </a:solidFill>
                <a:latin typeface="+mj-lt"/>
                <a:cs typeface="Calibri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873628"/>
            <a:ext cx="10972800" cy="38417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kern="0" dirty="0">
                <a:solidFill>
                  <a:schemeClr val="dk1"/>
                </a:solidFill>
                <a:latin typeface="+mj-lt"/>
                <a:cs typeface="Calibri"/>
              </a:rPr>
              <a:t>Holiday campaign sales beat plan by 7%</a:t>
            </a:r>
            <a:endParaRPr lang="en-US" sz="2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rose three quarters in a row</a:t>
            </a:r>
          </a:p>
        </p:txBody>
      </p:sp>
      <p:graphicFrame>
        <p:nvGraphicFramePr>
          <p:cNvPr id="3" name="Revenue chart"/>
          <p:cNvGraphicFramePr>
            <a:graphicFrameLocks noGrp="1"/>
          </p:cNvGraphicFramePr>
          <p:nvPr/>
        </p:nvGraphicFramePr>
        <p:xfrm>
          <a:off x="822960" y="1600200"/>
          <a:ext cx="7863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allout"/>
          <p:cNvSpPr/>
          <p:nvPr/>
        </p:nvSpPr>
        <p:spPr>
          <a:xfrm>
            <a:off x="9052560" y="2194560"/>
            <a:ext cx="2377440" cy="13716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/>
              <a:t>+34%</a:t>
            </a:r>
          </a:p>
          <a:p>
            <a:pPr algn="ctr"/>
            <a:r>
              <a:rPr sz="1600"/>
              <a:t>Q4 vs Q1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led Q4, and East is back on plan</a:t>
            </a:r>
          </a:p>
        </p:txBody>
      </p:sp>
      <p:graphicFrame>
        <p:nvGraphicFramePr>
          <p:cNvPr id="3" name="Regional table"/>
          <p:cNvGraphicFramePr>
            <a:graphicFrameLocks noGrp="1"/>
          </p:cNvGraphicFramePr>
          <p:nvPr/>
        </p:nvGraphicFramePr>
        <p:xfrm>
          <a:off x="822960" y="17373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731520">
                <a:tc>
                  <a:txBody>
                    <a:bodyPr/>
                    <a:lstStyle/>
                    <a:p>
                      <a:r>
                        <a:rPr sz="20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vs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Gross margin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 b="1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/>
                        <a:t>$7.9M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+5%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41.5%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$5.9M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+2%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39.8%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$6.0M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40.2%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grew to 39% of Q4 sales</a:t>
            </a:r>
          </a:p>
        </p:txBody>
      </p:sp>
      <p:graphicFrame>
        <p:nvGraphicFramePr>
          <p:cNvPr id="3" name="Regional table"/>
          <p:cNvGraphicFramePr>
            <a:graphicFrameLocks noGrp="1"/>
          </p:cNvGraphicFramePr>
          <p:nvPr/>
        </p:nvGraphicFramePr>
        <p:xfrm>
          <a:off x="822960" y="17373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731520">
                <a:tc>
                  <a:txBody>
                    <a:bodyPr/>
                    <a:lstStyle/>
                    <a:p>
                      <a:r>
                        <a:rPr sz="2000"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Revenue (share)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vs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Gross margin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Stores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$12.1M (61%)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−1%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42.4%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$7.7M (39%)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+9%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37.8%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/>
                        <a:t>$19.8M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/>
                        <a:t>+3%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/>
                        <a:t>40.6%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609600" y="276225"/>
            <a:ext cx="10972800" cy="1143000"/>
          </a:xfrm>
          <a:prstGeom prst="rect">
            <a:avLst/>
          </a:prstGeom>
          <a:noFill/>
        </p:spPr>
        <p:txBody>
          <a:bodyPr wrap="none" lIns="0" tIns="254003" rIns="0" bIns="0" anchor="t" rtlCol="0">
            <a:no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kern="0" dirty="0">
                <a:solidFill>
                  <a:schemeClr val="dk1"/>
                </a:solidFill>
                <a:latin typeface="+mj-lt"/>
                <a:cs typeface="Calibri"/>
              </a:rPr>
              <a:t>Q1 priority: win back margin</a:t>
            </a:r>
            <a:endParaRPr lang="en-US" sz="4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981200"/>
            <a:ext cx="3657600" cy="533400"/>
          </a:xfrm>
          <a:prstGeom prst="rect">
            <a:avLst/>
          </a:prstGeom>
          <a:noFill/>
        </p:spPr>
        <p:txBody>
          <a:bodyPr wrap="none" lIns="0" tIns="3172" rIns="0" bIns="0" anchor="t" rtlCol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dk2"/>
                </a:solidFill>
                <a:latin typeface="+mj-lt"/>
                <a:cs typeface="Calibri"/>
              </a:rPr>
              <a:t>18% → 12%</a:t>
            </a:r>
            <a:endParaRPr lang="en-US" sz="3600" b="1" i="0" kern="0" dirty="0">
              <a:solidFill>
                <a:schemeClr val="dk2"/>
              </a:solidFill>
              <a:latin typeface="+mj-lt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0" y="2111378"/>
            <a:ext cx="7010400" cy="38417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kern="0" dirty="0">
                <a:solidFill>
                  <a:schemeClr val="dk1"/>
                </a:solidFill>
                <a:latin typeface="+mj-lt"/>
                <a:cs typeface="Calibri"/>
              </a:rPr>
              <a:t>Cut markdowns as a share of sales</a:t>
            </a:r>
            <a:endParaRPr lang="en-US" sz="2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2819400"/>
            <a:ext cx="109728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3048000"/>
            <a:ext cx="3657600" cy="533400"/>
          </a:xfrm>
          <a:prstGeom prst="rect">
            <a:avLst/>
          </a:prstGeom>
          <a:noFill/>
        </p:spPr>
        <p:txBody>
          <a:bodyPr wrap="none" lIns="0" tIns="3172" rIns="0" bIns="0" anchor="t" rtlCol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dk2"/>
                </a:solidFill>
                <a:latin typeface="+mj-lt"/>
                <a:cs typeface="Calibri"/>
              </a:rPr>
              <a:t>2 outlets</a:t>
            </a:r>
            <a:endParaRPr lang="en-US" sz="3600" b="1" i="0" kern="0" dirty="0">
              <a:solidFill>
                <a:schemeClr val="dk2"/>
              </a:solidFill>
              <a:latin typeface="+mj-lt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178178"/>
            <a:ext cx="7010400" cy="38417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kern="0" dirty="0">
                <a:solidFill>
                  <a:schemeClr val="dk1"/>
                </a:solidFill>
                <a:latin typeface="+mj-lt"/>
                <a:cs typeface="Calibri"/>
              </a:rPr>
              <a:t>Close the two underperforming outlets</a:t>
            </a:r>
            <a:endParaRPr lang="en-US" sz="2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3886200"/>
            <a:ext cx="109728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114800"/>
            <a:ext cx="3657600" cy="533400"/>
          </a:xfrm>
          <a:prstGeom prst="rect">
            <a:avLst/>
          </a:prstGeom>
          <a:noFill/>
        </p:spPr>
        <p:txBody>
          <a:bodyPr wrap="none" lIns="0" tIns="3172" rIns="0" bIns="0" anchor="t" rtlCol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dk2"/>
                </a:solidFill>
                <a:latin typeface="+mj-lt"/>
                <a:cs typeface="Calibri"/>
              </a:rPr>
              <a:t>37.8% → 40%</a:t>
            </a:r>
            <a:endParaRPr lang="en-US" sz="3600" b="1" i="0" kern="0" dirty="0">
              <a:solidFill>
                <a:schemeClr val="dk2"/>
              </a:solidFill>
              <a:latin typeface="+mj-lt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4244978"/>
            <a:ext cx="7010400" cy="38417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kern="0" dirty="0">
                <a:solidFill>
                  <a:schemeClr val="dk1"/>
                </a:solidFill>
                <a:latin typeface="+mj-lt"/>
                <a:cs typeface="Calibri"/>
              </a:rPr>
              <a:t>Lift the online gross margin</a:t>
            </a:r>
            <a:endParaRPr lang="en-US" sz="2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5181600"/>
            <a:ext cx="3657600" cy="533400"/>
          </a:xfrm>
          <a:prstGeom prst="rect">
            <a:avLst/>
          </a:prstGeom>
          <a:noFill/>
        </p:spPr>
        <p:txBody>
          <a:bodyPr wrap="none" lIns="0" tIns="3172" rIns="0" bIns="0" anchor="t" rtlCol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dk2"/>
                </a:solidFill>
                <a:latin typeface="+mj-lt"/>
                <a:cs typeface="Calibri"/>
              </a:rPr>
              <a:t>2 carriers</a:t>
            </a:r>
            <a:endParaRPr lang="en-US" sz="3600" b="1" i="0" kern="0" dirty="0">
              <a:solidFill>
                <a:schemeClr val="dk2"/>
              </a:solidFill>
              <a:latin typeface="+mj-lt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5311778"/>
            <a:ext cx="7010400" cy="38417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kern="0" dirty="0">
                <a:solidFill>
                  <a:schemeClr val="dk1"/>
                </a:solidFill>
                <a:latin typeface="+mj-lt"/>
                <a:cs typeface="Calibri"/>
              </a:rPr>
              <a:t>Renegotiate freight with both carriers</a:t>
            </a:r>
            <a:endParaRPr lang="en-US" sz="2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Questions: commercial@halden.example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Business Review</dc:title>
  <dc:subject/>
  <dc:creator/>
  <cp:keywords/>
  <dc:description/>
  <cp:lastModifiedBy/>
  <cp:revision>1</cp:revision>
  <dcterms:created xsi:type="dcterms:W3CDTF">2013-01-27T09:14:16Z</dcterms:created>
  <dcterms:modified xsi:type="dcterms:W3CDTF">2026-10-10T06:54:46Z</dcterms:modified>
  <cp:category/>
</cp:coreProperties>
</file>