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Round 2</c:v>
                </c:pt>
              </c:strCache>
            </c:strRef>
          </c:tx>
          <c:spPr>
            <a:solidFill>
              <a:srgbClr val="5B4BFF"/>
            </a:solidFill>
          </c:spPr>
          <c:cat>
            <c:strRef>
              <c:f>Sheet1!$A$2:$A$9</c:f>
              <c:strCache>
                <c:ptCount val="8"/>
                <c:pt idx="0">
                  <c:v>Copy</c:v>
                </c:pt>
                <c:pt idx="1">
                  <c:v>Brand</c:v>
                </c:pt>
                <c:pt idx="2">
                  <c:v>Imagery</c:v>
                </c:pt>
                <c:pt idx="3">
                  <c:v>Colour</c:v>
                </c:pt>
                <c:pt idx="4">
                  <c:v>Alignment</c:v>
                </c:pt>
                <c:pt idx="5">
                  <c:v>Typography</c:v>
                </c:pt>
                <c:pt idx="6">
                  <c:v>Composition</c:v>
                </c:pt>
                <c:pt idx="7">
                  <c:v>Hierarchy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5</c:v>
                </c:pt>
                <c:pt idx="1">
                  <c:v>5</c:v>
                </c:pt>
                <c:pt idx="2">
                  <c:v>4</c:v>
                </c:pt>
                <c:pt idx="3">
                  <c:v>5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Round 1</c:v>
                </c:pt>
              </c:strCache>
            </c:strRef>
          </c:tx>
          <c:spPr>
            <a:solidFill>
              <a:srgbClr val="B9B2FF"/>
            </a:solidFill>
          </c:spPr>
          <c:cat>
            <c:strRef>
              <c:f>Sheet1!$A$2:$A$9</c:f>
              <c:strCache>
                <c:ptCount val="8"/>
                <c:pt idx="0">
                  <c:v>Copy</c:v>
                </c:pt>
                <c:pt idx="1">
                  <c:v>Brand</c:v>
                </c:pt>
                <c:pt idx="2">
                  <c:v>Imagery</c:v>
                </c:pt>
                <c:pt idx="3">
                  <c:v>Colour</c:v>
                </c:pt>
                <c:pt idx="4">
                  <c:v>Alignment</c:v>
                </c:pt>
                <c:pt idx="5">
                  <c:v>Typography</c:v>
                </c:pt>
                <c:pt idx="6">
                  <c:v>Composition</c:v>
                </c:pt>
                <c:pt idx="7">
                  <c:v>Hierarchy</c:v>
                </c:pt>
              </c:strCache>
            </c:strRef>
          </c:cat>
          <c:val>
            <c:numRef>
              <c:f>Sheet1!$C$2:$C$9</c:f>
              <c:numCache>
                <c:formatCode>0</c:formatCode>
                <c:ptCount val="8"/>
                <c:pt idx="0">
                  <c:v>4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6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6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F3F2F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/>
        <c:axPos val="b"/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650">
          <a:solidFill>
            <a:srgbClr val="14122B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Slidekick is a Claude Code skill. You type /slidekick, give it a brief and your brand kit, and get back a real 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into most AI-made slides and the whole slide is one picture. Change a word and you are back to rebuilding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real run: the Fernway example in this repo. The brief and brand kit on the left produced the deck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slide as before, as it really is: a text box you can retype, a chart whose data opens in Excel, numerals you can edit. Counts from deck.py inspect.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reads templates, logos, tokens, CSS and guideline PDFs, and shows you a brand board to confirm before it builds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is the design, middle is what PowerPoint drew, right is the pixel difference. Fonts PowerPoint would swap, transitions and animations are checked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calibration, text could sit up to 8 px off. Now it lands where it was designed. Every transition and animation is read back from PowerPoint to prove it took.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 mode keeps their template and formatting and changes only what you ask: here, new numbers, chart data and a takeaway 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author never signs off their own design. A separate reviewer scores eight dimensions against a studio bar and returns exact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 it, point it at your brand kit, and ask for your next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63006-C9DA-BFA6-C9DE-21142304F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1105E-3211-C712-60D0-CD6AD624FA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65DB7-0CAA-B54D-56F9-042073CE0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5DC9E-6255-43C7-91B4-DA36CEBEB50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D50BB-6FA4-5C96-7F6A-1726BD43E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28787-893F-3A3C-2402-1B96C27A7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3665C-56A7-40A7-B248-D81BE4AA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043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8399-8DBF-F778-8B4F-4E13C83DB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AE548-48C2-FB93-EE9A-F4684909E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5978F-75FE-AEAA-882D-5E587B8D9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5DC9E-6255-43C7-91B4-DA36CEBEB50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BA439-0AEF-4701-0A85-F67539054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461B4-4028-B0CB-CBDE-AEB78B644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3665C-56A7-40A7-B248-D81BE4AA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691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DDEC9-F426-1181-C571-D090DC8DE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0CEF9-89EE-B761-6244-9B83497F7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9B36C-7D1E-B717-E8E4-F03CA4CD8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5DC9E-6255-43C7-91B4-DA36CEBEB50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F5138-4A92-FE21-399F-9AAB85E6C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3922C-2879-B306-E136-ABE7E67FB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3665C-56A7-40A7-B248-D81BE4AA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85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36258-3834-072A-65F1-6EAC3038C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CE59-A8FD-CDC0-6060-784479DAC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0A958F-68F7-3920-A4EE-6D7E6E825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A9C0F4-7793-DE5E-210A-BD9A7777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5DC9E-6255-43C7-91B4-DA36CEBEB50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BAF11-080F-8B10-FF0A-566E8C380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938A9-BD45-7089-9B13-FA34BB87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3665C-56A7-40A7-B248-D81BE4AA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305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6B794-CC29-4C2B-EEDD-931A9A0AE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84794-479A-9DAA-76BC-4DA3D06B1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51642-7EA2-0BEE-AD47-3C9E5909C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6A53E-6F1A-4B99-68D6-85A6C6D7F4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E73542-D348-B5E3-E34A-F37D97BB8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8591DD-F29A-978E-82FC-FBB107CF4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5DC9E-6255-43C7-91B4-DA36CEBEB50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055B03-4884-EEE5-1A43-E148E80A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57C4C4-FA2E-38F0-E055-FBBD7226A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3665C-56A7-40A7-B248-D81BE4AA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048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750D2-CC19-0B48-A6D9-1B3D8D776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F40D43-B946-10F4-93C6-B96596840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5DC9E-6255-43C7-91B4-DA36CEBEB50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ED52F-F0B6-A736-1BB3-35C4FCE4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66595-DC49-D8D6-7AC5-EEF297401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3665C-56A7-40A7-B248-D81BE4AA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7F58F-5814-2029-2FD7-301A36C90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5DC9E-6255-43C7-91B4-DA36CEBEB50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F752DB-ABFE-0144-C6F7-8D69B06EA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0FDD9-EF36-C1D0-0127-235F5D4B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3665C-56A7-40A7-B248-D81BE4AA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353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37EAE-B4AA-BB39-BB9C-28F48248B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5935F-E253-6530-864B-9CC71C1B1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A3E139-D1FD-AFBC-3034-2261C5B51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B38A6-91F5-CC2B-63AF-31826CC4B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5DC9E-6255-43C7-91B4-DA36CEBEB50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F587D-A022-ADA9-0A18-001DD4DA4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D5BC9-AA6B-AEA8-1178-D5F56BE4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3665C-56A7-40A7-B248-D81BE4AA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692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89DCD-CB71-6BD4-D658-0E1341105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A64E80-4FD2-D6B7-6314-CE67FD517EA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51F1C6-442B-FB97-6D87-CB37563AD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ED146-D466-42C9-3CC9-427C68B04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5DC9E-6255-43C7-91B4-DA36CEBEB50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B7D2C-4FDA-ABC6-0F33-062D449C5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2DF6D-E98C-0BEB-143A-361BA5FC5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3665C-56A7-40A7-B248-D81BE4AA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65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04B9-4E5B-A855-D04D-70BDF6E77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47EBF9-C809-FAA3-A348-752B806B3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954AB-D752-00B7-4A35-A8F6B80AA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5DC9E-6255-43C7-91B4-DA36CEBEB50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64760-06A6-632B-F65B-65FE1F398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5E6B8-7FE4-23DC-5E8C-F8D575EFE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3665C-56A7-40A7-B248-D81BE4AA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95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526AFF-47EE-1547-A43A-F5C6B0BD40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0630B8-8F7E-9E29-58BC-4102C902B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0C2AC-D50E-EE51-78A7-E4400EC0D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5DC9E-6255-43C7-91B4-DA36CEBEB50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5547-718A-8E51-0877-A26D7D600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D6B37-27F2-9497-23AF-BCA8227CE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3665C-56A7-40A7-B248-D81BE4AA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3718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EDEE7-6698-607A-8B14-5DAC2CE8B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75F49-232E-4DD2-09A6-17D6F4C93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299B9-32A1-98A5-2BC6-99F6140E18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85DC9E-6255-43C7-91B4-DA36CEBEB507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4157D-A585-8EA9-D17D-7D8021D8D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3632A-F607-E2BA-9F44-AFA0DB326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3665C-56A7-40A7-B248-D81BE4AAC1BF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594563-E936-ADC1-226A-6ED8A150DE11}"/>
              </a:ext>
            </a:extLst>
          </p:cNvPr>
          <p:cNvPicPr>
            <a:picLocks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04800"/>
            <a:ext cx="2184400" cy="304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E96C45D-221B-3C7A-1AB8-E5C9DA072015}"/>
              </a:ext>
            </a:extLst>
          </p:cNvPr>
          <p:cNvSpPr/>
          <p:nvPr userDrawn="1"/>
        </p:nvSpPr>
        <p:spPr>
          <a:xfrm>
            <a:off x="0" y="6731000"/>
            <a:ext cx="12192000" cy="127000"/>
          </a:xfrm>
          <a:prstGeom prst="rect">
            <a:avLst/>
          </a:prstGeom>
          <a:solidFill>
            <a:srgbClr val="5B4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631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card-coral"/>
          <p:cNvSpPr/>
          <p:nvPr/>
        </p:nvSpPr>
        <p:spPr>
          <a:xfrm>
            <a:off x="6438900" y="2628900"/>
            <a:ext cx="3771900" cy="2914650"/>
          </a:xfrm>
          <a:prstGeom prst="roundRect">
            <a:avLst>
              <a:gd name="adj" fmla="val 20588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card-violet"/>
          <p:cNvSpPr/>
          <p:nvPr/>
        </p:nvSpPr>
        <p:spPr>
          <a:xfrm>
            <a:off x="7124700" y="2028825"/>
            <a:ext cx="3771900" cy="2914650"/>
          </a:xfrm>
          <a:prstGeom prst="roundRect">
            <a:avLst>
              <a:gd name="adj" fmla="val 20588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card-top"/>
          <p:cNvSpPr/>
          <p:nvPr/>
        </p:nvSpPr>
        <p:spPr>
          <a:xfrm>
            <a:off x="7810500" y="1428750"/>
            <a:ext cx="3771900" cy="2914650"/>
          </a:xfrm>
          <a:prstGeom prst="roundRect">
            <a:avLst>
              <a:gd name="adj" fmla="val 20588"/>
            </a:avLst>
          </a:prstGeom>
          <a:solidFill>
            <a:schemeClr val="l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609600" y="1828800"/>
            <a:ext cx="5715000" cy="1905000"/>
          </a:xfrm>
          <a:prstGeom prst="rect">
            <a:avLst/>
          </a:prstGeom>
          <a:noFill/>
        </p:spPr>
        <p:txBody>
          <a:bodyPr wrap="square" lIns="0" tIns="104775" rIns="0" bIns="0" anchor="t" rtlCol="0">
            <a:noAutofit/>
          </a:bodyPr>
          <a:lstStyle/>
          <a:p>
            <a:pPr algn="l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kern="0" dirty="0" spc="-216">
                <a:solidFill>
                  <a:schemeClr val="lt1"/>
                </a:solidFill>
                <a:latin typeface="Manrope ExtraBold"/>
                <a:cs typeface="Manrope ExtraBold"/>
              </a:rPr>
              <a:t>Meet</a:t>
            </a:r>
            <a:br>
              <a:rPr lang="en-US" sz="7200" b="0" i="0" kern="0" dirty="0" spc="-216">
                <a:solidFill>
                  <a:schemeClr val="lt1"/>
                </a:solidFill>
                <a:latin typeface="Manrope ExtraBold"/>
                <a:cs typeface="Manrope ExtraBold"/>
              </a:rPr>
            </a:br>
            <a:r>
              <a:rPr lang="en-US" sz="7200" b="0" i="0" kern="0" dirty="0" spc="-216">
                <a:solidFill>
                  <a:schemeClr val="lt1"/>
                </a:solidFill>
                <a:latin typeface="Manrope ExtraBold"/>
                <a:cs typeface="Manrope ExtraBold"/>
              </a:rPr>
              <a:t>Slidekick</a:t>
            </a:r>
            <a:endParaRPr lang="en-US" sz="7200" b="0" i="0" kern="0" dirty="0" spc="-216">
              <a:solidFill>
                <a:schemeClr val="lt1"/>
              </a:solidFill>
              <a:latin typeface="Manrope ExtraBold"/>
              <a:cs typeface="Manrope ExtraBold"/>
            </a:endParaRPr>
          </a:p>
        </p:txBody>
      </p:sp>
      <p:sp>
        <p:nvSpPr>
          <p:cNvPr id="6" name="Subtitle"/>
          <p:cNvSpPr txBox="1"/>
          <p:nvPr/>
        </p:nvSpPr>
        <p:spPr>
          <a:xfrm>
            <a:off x="609600" y="3962400"/>
            <a:ext cx="5372100" cy="723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kern="0" dirty="0">
                <a:solidFill>
                  <a:srgbClr val="BDBDC4"/>
                </a:solidFill>
                <a:latin typeface="+mn-lt"/>
                <a:cs typeface="Inter"/>
              </a:rPr>
              <a:t>Turn a brief and your brand kit into a PowerPoint deck you can actually edit.</a:t>
            </a:r>
            <a:endParaRPr lang="en-US" sz="2100" b="0" i="0" kern="0" dirty="0">
              <a:solidFill>
                <a:srgbClr val="BDBDC4"/>
              </a:solidFill>
              <a:latin typeface="+mn-lt"/>
              <a:cs typeface="Inter"/>
            </a:endParaRPr>
          </a:p>
        </p:txBody>
      </p:sp>
      <p:pic>
        <p:nvPicPr>
          <p:cNvPr id="7" name="Logo" descr="Slidekick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905500"/>
            <a:ext cx="2457450" cy="342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atement"/>
          <p:cNvSpPr txBox="1"/>
          <p:nvPr/>
        </p:nvSpPr>
        <p:spPr>
          <a:xfrm>
            <a:off x="609600" y="1628775"/>
            <a:ext cx="5410200" cy="2438400"/>
          </a:xfrm>
          <a:prstGeom prst="rect">
            <a:avLst/>
          </a:prstGeom>
          <a:noFill/>
        </p:spPr>
        <p:txBody>
          <a:bodyPr wrap="square" lIns="0" tIns="34928" rIns="0" bIns="0" anchor="t" rtlCol="0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kern="0" dirty="0" spc="-84">
                <a:solidFill>
                  <a:schemeClr val="dk1"/>
                </a:solidFill>
                <a:latin typeface="Manrope ExtraBold"/>
                <a:cs typeface="Manrope ExtraBold"/>
              </a:rPr>
              <a:t>Decks still take</a:t>
            </a:r>
            <a:br>
              <a:rPr lang="en-US" sz="4200" b="0" i="0" kern="0" dirty="0" spc="-84">
                <a:solidFill>
                  <a:schemeClr val="dk1"/>
                </a:solidFill>
                <a:latin typeface="Manrope ExtraBold"/>
                <a:cs typeface="Manrope ExtraBold"/>
              </a:rPr>
            </a:br>
            <a:r>
              <a:rPr lang="en-US" sz="4200" b="0" i="0" kern="0" dirty="0" spc="-84">
                <a:solidFill>
                  <a:schemeClr val="dk1"/>
                </a:solidFill>
                <a:latin typeface="Manrope ExtraBold"/>
                <a:cs typeface="Manrope ExtraBold"/>
              </a:rPr>
              <a:t>a day, and most</a:t>
            </a:r>
            <a:br>
              <a:rPr lang="en-US" sz="4200" b="0" i="0" kern="0" dirty="0" spc="-84">
                <a:solidFill>
                  <a:schemeClr val="dk1"/>
                </a:solidFill>
                <a:latin typeface="Manrope ExtraBold"/>
                <a:cs typeface="Manrope ExtraBold"/>
              </a:rPr>
            </a:br>
            <a:r>
              <a:rPr lang="en-US" sz="4200" b="0" i="0" kern="0" dirty="0" spc="-84">
                <a:solidFill>
                  <a:schemeClr val="dk1"/>
                </a:solidFill>
                <a:latin typeface="Manrope ExtraBold"/>
                <a:cs typeface="Manrope ExtraBold"/>
              </a:rPr>
              <a:t>AI tools hand back</a:t>
            </a:r>
            <a:br>
              <a:rPr lang="en-US" sz="4200" b="0" i="0" kern="0" dirty="0" spc="-84">
                <a:solidFill>
                  <a:schemeClr val="dk1"/>
                </a:solidFill>
                <a:latin typeface="Manrope ExtraBold"/>
                <a:cs typeface="Manrope ExtraBold"/>
              </a:rPr>
            </a:br>
            <a:r>
              <a:rPr lang="en-US" sz="4200" b="0" i="0" kern="0" dirty="0" spc="-84">
                <a:solidFill>
                  <a:schemeClr val="dk1"/>
                </a:solidFill>
                <a:latin typeface="Manrope ExtraBold"/>
                <a:cs typeface="Manrope ExtraBold"/>
              </a:rPr>
              <a:t>pictures of slides</a:t>
            </a:r>
            <a:endParaRPr lang="en-US" sz="4200" b="0" i="0" kern="0" dirty="0" spc="-84">
              <a:solidFill>
                <a:schemeClr val="dk1"/>
              </a:solidFill>
              <a:latin typeface="Manrope ExtraBold"/>
              <a:cs typeface="Manrope ExtraBold"/>
            </a:endParaRPr>
          </a:p>
        </p:txBody>
      </p:sp>
      <p:sp>
        <p:nvSpPr>
          <p:cNvPr id="3" name="!!card-coral"/>
          <p:cNvSpPr/>
          <p:nvPr/>
        </p:nvSpPr>
        <p:spPr>
          <a:xfrm>
            <a:off x="5791200" y="2362200"/>
            <a:ext cx="5334000" cy="3000375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card-violet"/>
          <p:cNvSpPr/>
          <p:nvPr/>
        </p:nvSpPr>
        <p:spPr>
          <a:xfrm>
            <a:off x="6019800" y="2133600"/>
            <a:ext cx="5334000" cy="3000375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card-top"/>
          <p:cNvSpPr/>
          <p:nvPr/>
        </p:nvSpPr>
        <p:spPr>
          <a:xfrm>
            <a:off x="6248400" y="1905000"/>
            <a:ext cx="5334000" cy="3000375"/>
          </a:xfrm>
          <a:prstGeom prst="roundRect">
            <a:avLst>
              <a:gd name="adj" fmla="val 5079"/>
            </a:avLst>
          </a:prstGeom>
          <a:solidFill>
            <a:schemeClr val="dk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Slide as a picture" descr="A slide shown as a single picture"/>
          <p:cNvPicPr>
            <a:picLocks noChangeAspect="1"/>
          </p:cNvPicPr>
          <p:nvPr/>
        </p:nvPicPr>
        <p:blipFill>
          <a:blip r:embed="rId2"/>
          <a:srcRect t="1144" b="1144"/>
          <a:stretch>
            <a:fillRect/>
          </a:stretch>
        </p:blipFill>
        <p:spPr>
          <a:xfrm>
            <a:off x="6324600" y="1981200"/>
            <a:ext cx="5181600" cy="2847975"/>
          </a:xfrm>
          <a:prstGeom prst="roundRect">
            <a:avLst>
              <a:gd name="adj" fmla="val 3344"/>
            </a:avLst>
          </a:prstGeom>
        </p:spPr>
      </p:pic>
      <p:sp>
        <p:nvSpPr>
          <p:cNvPr id="7" name="Selection box"/>
          <p:cNvSpPr/>
          <p:nvPr/>
        </p:nvSpPr>
        <p:spPr>
          <a:xfrm>
            <a:off x="6334125" y="1990725"/>
            <a:ext cx="5162550" cy="282892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24600" y="1752600"/>
            <a:ext cx="15621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wrap="none" lIns="76200" tIns="0" rIns="7620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lt1"/>
                </a:solidFill>
                <a:latin typeface="Inter SemiBold"/>
                <a:cs typeface="Inter SemiBold"/>
              </a:rPr>
              <a:t>Picture 1 · 1 object</a:t>
            </a:r>
            <a:endParaRPr lang="en-US" sz="1050" b="0" i="0" kern="0" dirty="0">
              <a:solidFill>
                <a:schemeClr val="lt1"/>
              </a:solidFill>
              <a:latin typeface="Inter SemiBold"/>
              <a:cs typeface="Inter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91200" y="5638800"/>
            <a:ext cx="5791200" cy="3048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rgbClr val="646373"/>
                </a:solidFill>
                <a:latin typeface="+mn-lt"/>
                <a:cs typeface="Inter"/>
              </a:rPr>
              <a:t>Click any word and you select the whole slide.</a:t>
            </a:r>
            <a:endParaRPr lang="en-US" sz="1650" b="0" i="0" kern="0" dirty="0">
              <a:solidFill>
                <a:srgbClr val="646373"/>
              </a:solidFill>
              <a:latin typeface="+mn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609600" y="838200"/>
            <a:ext cx="9525000" cy="495300"/>
          </a:xfrm>
          <a:prstGeom prst="rect">
            <a:avLst/>
          </a:prstGeom>
          <a:noFill/>
        </p:spPr>
        <p:txBody>
          <a:bodyPr wrap="none" lIns="0" tIns="25403" rIns="0" bIns="0" anchor="t" rtlCol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kern="0" dirty="0" spc="-50">
                <a:solidFill>
                  <a:schemeClr val="dk1"/>
                </a:solidFill>
                <a:latin typeface="+mj-lt"/>
                <a:cs typeface="Manrope"/>
              </a:rPr>
              <a:t>Your brief and brand kit in, an editable deck out</a:t>
            </a:r>
            <a:endParaRPr lang="en-US" sz="3300" b="1" i="0" kern="0" dirty="0" spc="-50">
              <a:solidFill>
                <a:schemeClr val="dk1"/>
              </a:solidFill>
              <a:latin typeface="+mj-lt"/>
              <a:cs typeface="Manrope"/>
            </a:endParaRPr>
          </a:p>
        </p:txBody>
      </p:sp>
      <p:sp>
        <p:nvSpPr>
          <p:cNvPr id="3" name="!!card-coral"/>
          <p:cNvSpPr/>
          <p:nvPr/>
        </p:nvSpPr>
        <p:spPr>
          <a:xfrm>
            <a:off x="609600" y="2057400"/>
            <a:ext cx="2857500" cy="3962400"/>
          </a:xfrm>
          <a:prstGeom prst="roundRect">
            <a:avLst>
              <a:gd name="adj" fmla="val 8000"/>
            </a:avLst>
          </a:prstGeom>
          <a:solidFill>
            <a:schemeClr val="l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card-violet"/>
          <p:cNvSpPr/>
          <p:nvPr/>
        </p:nvSpPr>
        <p:spPr>
          <a:xfrm>
            <a:off x="3771900" y="2057400"/>
            <a:ext cx="3429000" cy="39624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card-top"/>
          <p:cNvSpPr/>
          <p:nvPr/>
        </p:nvSpPr>
        <p:spPr>
          <a:xfrm>
            <a:off x="7505700" y="2057400"/>
            <a:ext cx="4076700" cy="3962400"/>
          </a:xfrm>
          <a:prstGeom prst="roundRect">
            <a:avLst>
              <a:gd name="adj" fmla="val 5769"/>
            </a:avLst>
          </a:prstGeom>
          <a:solidFill>
            <a:schemeClr val="dk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62200"/>
            <a:ext cx="2200704" cy="2438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dk1"/>
                </a:solidFill>
                <a:latin typeface="+mn-lt"/>
                <a:cs typeface="Inter"/>
              </a:rPr>
              <a:t>An 11-slide seed pitch for Fernway, a fictional startup that grows produce on grocery-store roofs. For seed investors, first meeting. Show the unit economics.</a:t>
            </a:r>
            <a:endParaRPr lang="en-US" sz="1650" b="0" i="0" kern="0" dirty="0">
              <a:solidFill>
                <a:schemeClr val="dk1"/>
              </a:solidFill>
              <a:latin typeface="+mn-lt"/>
              <a:cs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2247900" cy="266700"/>
          </a:xfrm>
          <a:prstGeom prst="rect">
            <a:avLst/>
          </a:prstGeom>
          <a:noFill/>
        </p:spPr>
        <p:txBody>
          <a:bodyPr wrap="none" lIns="0" tIns="9525" rIns="0" bIns="0" anchor="t" rtlCol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accent1"/>
                </a:solidFill>
                <a:latin typeface="Inter SemiBold"/>
                <a:cs typeface="Inter SemiBold"/>
              </a:rPr>
              <a:t>brief.md</a:t>
            </a:r>
            <a:endParaRPr lang="en-US" sz="1650" b="0" i="0" kern="0" dirty="0">
              <a:solidFill>
                <a:schemeClr val="accent1"/>
              </a:solidFill>
              <a:latin typeface="Inter SemiBold"/>
              <a:cs typeface="Inter SemiBold"/>
            </a:endParaRPr>
          </a:p>
        </p:txBody>
      </p:sp>
      <p:pic>
        <p:nvPicPr>
          <p:cNvPr id="8" name="Brand board" descr="Fernway brand board"/>
          <p:cNvPicPr>
            <a:picLocks noChangeAspect="1"/>
          </p:cNvPicPr>
          <p:nvPr/>
        </p:nvPicPr>
        <p:blipFill>
          <a:blip r:embed="rId2"/>
          <a:srcRect r="25737"/>
          <a:stretch>
            <a:fillRect/>
          </a:stretch>
        </p:blipFill>
        <p:spPr>
          <a:xfrm>
            <a:off x="3924300" y="2209800"/>
            <a:ext cx="3124200" cy="3086100"/>
          </a:xfrm>
          <a:prstGeom prst="roundRect">
            <a:avLst>
              <a:gd name="adj" fmla="val 3704"/>
            </a:avLst>
          </a:prstGeom>
        </p:spPr>
      </p:pic>
      <p:sp>
        <p:nvSpPr>
          <p:cNvPr id="9" name="TextBox 8"/>
          <p:cNvSpPr txBox="1"/>
          <p:nvPr/>
        </p:nvSpPr>
        <p:spPr>
          <a:xfrm>
            <a:off x="4076700" y="5486400"/>
            <a:ext cx="2819400" cy="266700"/>
          </a:xfrm>
          <a:prstGeom prst="rect">
            <a:avLst/>
          </a:prstGeom>
          <a:noFill/>
        </p:spPr>
        <p:txBody>
          <a:bodyPr wrap="none" lIns="0" tIns="9525" rIns="0" bIns="0" anchor="t" rtlCol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lt1"/>
                </a:solidFill>
                <a:latin typeface="Inter SemiBold"/>
                <a:cs typeface="Inter SemiBold"/>
              </a:rPr>
              <a:t>Brand kit</a:t>
            </a:r>
            <a:endParaRPr lang="en-US" sz="1650" b="0" i="0" kern="0" dirty="0">
              <a:solidFill>
                <a:schemeClr val="lt1"/>
              </a:solidFill>
              <a:latin typeface="Inter SemiBold"/>
              <a:cs typeface="Inter SemiBold"/>
            </a:endParaRPr>
          </a:p>
        </p:txBody>
      </p:sp>
      <p:pic>
        <p:nvPicPr>
          <p:cNvPr id="10" name="Fernway slides" descr="The 11 slides of the Fernway d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2209800"/>
            <a:ext cx="3771900" cy="3086100"/>
          </a:xfrm>
          <a:prstGeom prst="roundRect">
            <a:avLst>
              <a:gd name="adj" fmla="val 3704"/>
            </a:avLst>
          </a:prstGeom>
        </p:spPr>
      </p:pic>
      <p:sp>
        <p:nvSpPr>
          <p:cNvPr id="11" name="TextBox 10"/>
          <p:cNvSpPr txBox="1"/>
          <p:nvPr/>
        </p:nvSpPr>
        <p:spPr>
          <a:xfrm>
            <a:off x="7810500" y="5486400"/>
            <a:ext cx="3467100" cy="266700"/>
          </a:xfrm>
          <a:prstGeom prst="rect">
            <a:avLst/>
          </a:prstGeom>
          <a:noFill/>
        </p:spPr>
        <p:txBody>
          <a:bodyPr wrap="none" lIns="0" tIns="9525" rIns="0" bIns="0" anchor="t" rtlCol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lt1"/>
                </a:solidFill>
                <a:latin typeface="Inter SemiBold"/>
                <a:cs typeface="Inter SemiBold"/>
              </a:rPr>
              <a:t>deck.pptx · 11 native slides</a:t>
            </a:r>
            <a:endParaRPr lang="en-US" sz="1650" b="0" i="0" kern="0" dirty="0">
              <a:solidFill>
                <a:schemeClr val="lt1"/>
              </a:solidFill>
              <a:latin typeface="Inter SemiBold"/>
              <a:cs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609600" y="838200"/>
            <a:ext cx="10477500" cy="495300"/>
          </a:xfrm>
          <a:prstGeom prst="rect">
            <a:avLst/>
          </a:prstGeom>
          <a:noFill/>
        </p:spPr>
        <p:txBody>
          <a:bodyPr wrap="none" lIns="0" tIns="25403" rIns="0" bIns="0" anchor="t" rtlCol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kern="0" dirty="0" spc="-50">
                <a:solidFill>
                  <a:schemeClr val="dk1"/>
                </a:solidFill>
                <a:latin typeface="+mj-lt"/>
                <a:cs typeface="Manrope"/>
              </a:rPr>
              <a:t>Every word, chart and table is native PowerPoint</a:t>
            </a:r>
            <a:endParaRPr lang="en-US" sz="3300" b="1" i="0" kern="0" dirty="0" spc="-50">
              <a:solidFill>
                <a:schemeClr val="dk1"/>
              </a:solidFill>
              <a:latin typeface="+mj-lt"/>
              <a:cs typeface="Manrope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2362200"/>
            <a:ext cx="7315200" cy="4114800"/>
          </a:xfrm>
          <a:prstGeom prst="roundRect">
            <a:avLst>
              <a:gd name="adj" fmla="val 3704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209800"/>
            <a:ext cx="7315200" cy="4114800"/>
          </a:xfrm>
          <a:prstGeom prst="roundRect">
            <a:avLst>
              <a:gd name="adj" fmla="val 3704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ernway slide 7" descr="Fernway unit-economics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57400"/>
            <a:ext cx="7315200" cy="4114800"/>
          </a:xfrm>
          <a:prstGeom prst="roundRect">
            <a:avLst>
              <a:gd name="adj" fmla="val 3704"/>
            </a:avLst>
          </a:prstGeom>
        </p:spPr>
      </p:pic>
      <p:sp>
        <p:nvSpPr>
          <p:cNvPr id="6" name="Outline – headline"/>
          <p:cNvSpPr/>
          <p:nvPr/>
        </p:nvSpPr>
        <p:spPr>
          <a:xfrm>
            <a:off x="1076325" y="2562225"/>
            <a:ext cx="3543300" cy="66675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6800" y="2324100"/>
            <a:ext cx="8001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wrap="none" lIns="76200" tIns="0" rIns="7620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lt1"/>
                </a:solidFill>
                <a:latin typeface="Inter SemiBold"/>
                <a:cs typeface="Inter SemiBold"/>
              </a:rPr>
              <a:t>Text box</a:t>
            </a:r>
            <a:endParaRPr lang="en-US" sz="1050" b="0" i="0" kern="0" dirty="0">
              <a:solidFill>
                <a:schemeClr val="lt1"/>
              </a:solidFill>
              <a:latin typeface="Inter SemiBold"/>
              <a:cs typeface="Inter SemiBold"/>
            </a:endParaRPr>
          </a:p>
        </p:txBody>
      </p:sp>
      <p:sp>
        <p:nvSpPr>
          <p:cNvPr id="8" name="Outline – chart"/>
          <p:cNvSpPr/>
          <p:nvPr/>
        </p:nvSpPr>
        <p:spPr>
          <a:xfrm>
            <a:off x="3248025" y="3381375"/>
            <a:ext cx="4514850" cy="219075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29350" y="3143250"/>
            <a:ext cx="154305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wrap="none" lIns="76200" tIns="0" rIns="76200" bIns="0" anchor="t" rtlCol="0">
            <a:noAutofit/>
          </a:bodyPr>
          <a:lstStyle/>
          <a:p>
            <a:pPr algn="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lt1"/>
                </a:solidFill>
                <a:latin typeface="Inter SemiBold"/>
                <a:cs typeface="Inter SemiBold"/>
              </a:rPr>
              <a:t>Chart · data in Excel</a:t>
            </a:r>
            <a:endParaRPr lang="en-US" sz="1050" b="0" i="0" kern="0" dirty="0">
              <a:solidFill>
                <a:schemeClr val="lt1"/>
              </a:solidFill>
              <a:latin typeface="Inter SemiBold"/>
              <a:cs typeface="Inter SemiBold"/>
            </a:endParaRPr>
          </a:p>
        </p:txBody>
      </p:sp>
      <p:sp>
        <p:nvSpPr>
          <p:cNvPr id="10" name="Outline – numeral"/>
          <p:cNvSpPr/>
          <p:nvPr/>
        </p:nvSpPr>
        <p:spPr>
          <a:xfrm>
            <a:off x="1076325" y="3552825"/>
            <a:ext cx="1771650" cy="100965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6800" y="3314700"/>
            <a:ext cx="8001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wrap="none" lIns="76200" tIns="0" rIns="7620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lt1"/>
                </a:solidFill>
                <a:latin typeface="Inter SemiBold"/>
                <a:cs typeface="Inter SemiBold"/>
              </a:rPr>
              <a:t>Text box</a:t>
            </a:r>
            <a:endParaRPr lang="en-US" sz="1050" b="0" i="0" kern="0" dirty="0">
              <a:solidFill>
                <a:schemeClr val="lt1"/>
              </a:solidFill>
              <a:latin typeface="Inter SemiBold"/>
              <a:cs typeface="Inter SemiBold"/>
            </a:endParaRPr>
          </a:p>
        </p:txBody>
      </p:sp>
      <p:sp>
        <p:nvSpPr>
          <p:cNvPr id="12" name="Stat 124"/>
          <p:cNvSpPr txBox="1"/>
          <p:nvPr/>
        </p:nvSpPr>
        <p:spPr>
          <a:xfrm>
            <a:off x="8686800" y="2057400"/>
            <a:ext cx="2895600" cy="914400"/>
          </a:xfrm>
          <a:prstGeom prst="rect">
            <a:avLst/>
          </a:prstGeom>
          <a:noFill/>
        </p:spPr>
        <p:txBody>
          <a:bodyPr wrap="none" lIns="0" tIns="114300" rIns="0" bIns="0" anchor="t" rtlCol="0">
            <a:noAutofit/>
          </a:bodyPr>
          <a:lstStyle/>
          <a:p>
            <a:pPr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kern="0" dirty="0" spc="-216">
                <a:solidFill>
                  <a:schemeClr val="dk1"/>
                </a:solidFill>
                <a:latin typeface="Manrope ExtraBold"/>
                <a:cs typeface="Manrope ExtraBold"/>
              </a:rPr>
              <a:t>124</a:t>
            </a:r>
            <a:endParaRPr lang="en-US" sz="7200" b="0" i="0" kern="0" dirty="0" spc="-216">
              <a:solidFill>
                <a:schemeClr val="dk1"/>
              </a:solidFill>
              <a:latin typeface="Manrope ExtraBold"/>
              <a:cs typeface="Manrope Extra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0" y="3048000"/>
            <a:ext cx="3124200" cy="1219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dk1"/>
                </a:solidFill>
                <a:latin typeface="+mn-lt"/>
                <a:cs typeface="Inter"/>
              </a:rPr>
              <a:t>native objects in the 11-slide</a:t>
            </a:r>
            <a:br>
              <a:rPr lang="en-US" sz="1650" b="0" i="0" kern="0" dirty="0">
                <a:solidFill>
                  <a:schemeClr val="dk1"/>
                </a:solidFill>
                <a:latin typeface="+mn-lt"/>
                <a:cs typeface="Inter"/>
              </a:rPr>
            </a:br>
            <a:r>
              <a:rPr lang="en-US" sz="1650" b="0" i="0" kern="0" dirty="0">
                <a:solidFill>
                  <a:schemeClr val="dk1"/>
                </a:solidFill>
                <a:latin typeface="+mn-lt"/>
                <a:cs typeface="Inter"/>
              </a:rPr>
              <a:t>Fernway deck, including</a:t>
            </a:r>
            <a:br>
              <a:rPr lang="en-US" sz="1650" b="0" i="0" kern="0" dirty="0">
                <a:solidFill>
                  <a:schemeClr val="dk1"/>
                </a:solidFill>
                <a:latin typeface="+mn-lt"/>
                <a:cs typeface="Inter"/>
              </a:rPr>
            </a:br>
            <a:r>
              <a:rPr lang="en-US" sz="1650" b="0" i="0" kern="0" dirty="0">
                <a:solidFill>
                  <a:schemeClr val="dk1"/>
                </a:solidFill>
                <a:latin typeface="+mn-lt"/>
                <a:cs typeface="Inter"/>
              </a:rPr>
              <a:t>69 text boxes, 3 charts</a:t>
            </a:r>
            <a:br>
              <a:rPr lang="en-US" sz="1650" b="0" i="0" kern="0" dirty="0">
                <a:solidFill>
                  <a:schemeClr val="dk1"/>
                </a:solidFill>
                <a:latin typeface="+mn-lt"/>
                <a:cs typeface="Inter"/>
              </a:rPr>
            </a:br>
            <a:r>
              <a:rPr lang="en-US" sz="1650" b="0" i="0" kern="0" dirty="0">
                <a:solidFill>
                  <a:schemeClr val="dk1"/>
                </a:solidFill>
                <a:latin typeface="+mn-lt"/>
                <a:cs typeface="Inter"/>
              </a:rPr>
              <a:t>and 1 table</a:t>
            </a:r>
            <a:endParaRPr lang="en-US" sz="1650" b="0" i="0" kern="0" dirty="0">
              <a:solidFill>
                <a:schemeClr val="dk1"/>
              </a:solidFill>
              <a:latin typeface="+mn-lt"/>
              <a:cs typeface="Inte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686800" y="4572000"/>
            <a:ext cx="2895600" cy="9525"/>
          </a:xfrm>
          <a:prstGeom prst="rect">
            <a:avLst/>
          </a:prstGeom>
          <a:solidFill>
            <a:srgbClr val="D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tat 0"/>
          <p:cNvSpPr txBox="1"/>
          <p:nvPr/>
        </p:nvSpPr>
        <p:spPr>
          <a:xfrm>
            <a:off x="8686800" y="4800600"/>
            <a:ext cx="2895600" cy="914400"/>
          </a:xfrm>
          <a:prstGeom prst="rect">
            <a:avLst/>
          </a:prstGeom>
          <a:noFill/>
        </p:spPr>
        <p:txBody>
          <a:bodyPr wrap="none" lIns="0" tIns="114300" rIns="0" bIns="0" anchor="t" rtlCol="0">
            <a:noAutofit/>
          </a:bodyPr>
          <a:lstStyle/>
          <a:p>
            <a:pPr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kern="0" dirty="0" spc="-216">
                <a:solidFill>
                  <a:schemeClr val="accent1"/>
                </a:solidFill>
                <a:latin typeface="Manrope ExtraBold"/>
                <a:cs typeface="Manrope ExtraBold"/>
              </a:rPr>
              <a:t>0</a:t>
            </a:r>
            <a:endParaRPr lang="en-US" sz="7200" b="0" i="0" kern="0" dirty="0" spc="-216">
              <a:solidFill>
                <a:schemeClr val="accent1"/>
              </a:solidFill>
              <a:latin typeface="Manrope ExtraBold"/>
              <a:cs typeface="Manrope Extra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0" y="5791200"/>
            <a:ext cx="2895600" cy="3048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dk1"/>
                </a:solidFill>
                <a:latin typeface="+mn-lt"/>
                <a:cs typeface="Inter"/>
              </a:rPr>
              <a:t>slides flattened into pictures</a:t>
            </a:r>
            <a:endParaRPr lang="en-US" sz="1650" b="0" i="0" kern="0" dirty="0">
              <a:solidFill>
                <a:schemeClr val="dk1"/>
              </a:solidFill>
              <a:latin typeface="+mn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609600" y="838200"/>
            <a:ext cx="9753600" cy="990600"/>
          </a:xfrm>
          <a:prstGeom prst="rect">
            <a:avLst/>
          </a:prstGeom>
          <a:noFill/>
        </p:spPr>
        <p:txBody>
          <a:bodyPr wrap="square" lIns="0" tIns="25403" rIns="0" bIns="0" anchor="t" rtlCol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kern="0" dirty="0" spc="-50">
                <a:solidFill>
                  <a:schemeClr val="dk1"/>
                </a:solidFill>
                <a:latin typeface="+mj-lt"/>
                <a:cs typeface="Manrope"/>
              </a:rPr>
              <a:t>It builds from your kit: template, logos,</a:t>
            </a:r>
            <a:br>
              <a:rPr lang="en-US" sz="3300" b="1" i="0" kern="0" dirty="0" spc="-50">
                <a:solidFill>
                  <a:schemeClr val="dk1"/>
                </a:solidFill>
                <a:latin typeface="+mj-lt"/>
                <a:cs typeface="Manrope"/>
              </a:rPr>
            </a:br>
            <a:r>
              <a:rPr lang="en-US" sz="3300" b="1" i="0" kern="0" dirty="0" spc="-50">
                <a:solidFill>
                  <a:schemeClr val="dk1"/>
                </a:solidFill>
                <a:latin typeface="+mj-lt"/>
                <a:cs typeface="Manrope"/>
              </a:rPr>
              <a:t>colours, fonts and rules</a:t>
            </a:r>
            <a:endParaRPr lang="en-US" sz="3300" b="1" i="0" kern="0" dirty="0" spc="-50">
              <a:solidFill>
                <a:schemeClr val="dk1"/>
              </a:solidFill>
              <a:latin typeface="+mj-lt"/>
              <a:cs typeface="Manrope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2514600"/>
            <a:ext cx="4953000" cy="3629025"/>
          </a:xfrm>
          <a:prstGeom prst="roundRect">
            <a:avLst>
              <a:gd name="adj" fmla="val 4199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362200"/>
            <a:ext cx="4953000" cy="3629025"/>
          </a:xfrm>
          <a:prstGeom prst="roundRect">
            <a:avLst>
              <a:gd name="adj" fmla="val 4199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Brand board" descr="Fernway brand board generated from its k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09800"/>
            <a:ext cx="4953000" cy="3629025"/>
          </a:xfrm>
          <a:prstGeom prst="roundRect">
            <a:avLst>
              <a:gd name="adj" fmla="val 4199"/>
            </a:avLst>
          </a:prstGeom>
        </p:spPr>
      </p:pic>
      <p:pic>
        <p:nvPicPr>
          <p:cNvPr id="6" name="Fernway title slide" descr="Fernway title slide built from the k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209800"/>
            <a:ext cx="5257800" cy="2962275"/>
          </a:xfrm>
          <a:prstGeom prst="roundRect">
            <a:avLst>
              <a:gd name="adj" fmla="val 5145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6324600" y="5410200"/>
            <a:ext cx="5257800" cy="266700"/>
          </a:xfrm>
          <a:prstGeom prst="rect">
            <a:avLst/>
          </a:prstGeom>
          <a:noFill/>
        </p:spPr>
        <p:txBody>
          <a:bodyPr wrap="none" lIns="0" tIns="9525" rIns="0" bIns="0" anchor="t" rtlCol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dk1"/>
                </a:solidFill>
                <a:latin typeface="Inter SemiBold"/>
                <a:cs typeface="Inter SemiBold"/>
              </a:rPr>
              <a:t>Fernway’s kit, and the title slide built from it</a:t>
            </a:r>
            <a:endParaRPr lang="en-US" sz="1650" b="0" i="0" kern="0" dirty="0">
              <a:solidFill>
                <a:schemeClr val="dk1"/>
              </a:solidFill>
              <a:latin typeface="Inter SemiBold"/>
              <a:cs typeface="Inter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24600" y="5715000"/>
            <a:ext cx="5214795" cy="609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rgbClr val="646373"/>
                </a:solidFill>
                <a:latin typeface="+mn-lt"/>
                <a:cs typeface="Inter"/>
              </a:rPr>
              <a:t>It reads .potx templates, logos, tokens, CSS and guideline PDFs.</a:t>
            </a:r>
            <a:endParaRPr lang="en-US" sz="1650" b="0" i="0" kern="0" dirty="0">
              <a:solidFill>
                <a:srgbClr val="646373"/>
              </a:solidFill>
              <a:latin typeface="+mn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609600" y="838200"/>
            <a:ext cx="9753600" cy="990600"/>
          </a:xfrm>
          <a:prstGeom prst="rect">
            <a:avLst/>
          </a:prstGeom>
          <a:noFill/>
        </p:spPr>
        <p:txBody>
          <a:bodyPr wrap="square" lIns="0" tIns="25403" rIns="0" bIns="0" anchor="t" rtlCol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kern="0" dirty="0" spc="-50">
                <a:solidFill>
                  <a:schemeClr val="dk1"/>
                </a:solidFill>
                <a:latin typeface="+mj-lt"/>
                <a:cs typeface="Manrope"/>
              </a:rPr>
              <a:t>Every build is rendered in real PowerPoint</a:t>
            </a:r>
            <a:br>
              <a:rPr lang="en-US" sz="3300" b="1" i="0" kern="0" dirty="0" spc="-50">
                <a:solidFill>
                  <a:schemeClr val="dk1"/>
                </a:solidFill>
                <a:latin typeface="+mj-lt"/>
                <a:cs typeface="Manrope"/>
              </a:rPr>
            </a:br>
            <a:r>
              <a:rPr lang="en-US" sz="3300" b="1" i="0" kern="0" dirty="0" spc="-50">
                <a:solidFill>
                  <a:schemeClr val="dk1"/>
                </a:solidFill>
                <a:latin typeface="+mj-lt"/>
                <a:cs typeface="Manrope"/>
              </a:rPr>
              <a:t>and checked against the design</a:t>
            </a:r>
            <a:endParaRPr lang="en-US" sz="3300" b="1" i="0" kern="0" dirty="0" spc="-50">
              <a:solidFill>
                <a:schemeClr val="dk1"/>
              </a:solidFill>
              <a:latin typeface="+mj-lt"/>
              <a:cs typeface="Manrope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2362200"/>
            <a:ext cx="3238500" cy="266700"/>
          </a:xfrm>
          <a:prstGeom prst="rect">
            <a:avLst/>
          </a:prstGeom>
          <a:noFill/>
        </p:spPr>
        <p:txBody>
          <a:bodyPr wrap="none" lIns="0" tIns="9525" rIns="0" bIns="0" anchor="t" rtlCol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dk1"/>
                </a:solidFill>
                <a:latin typeface="Inter SemiBold"/>
                <a:cs typeface="Inter SemiBold"/>
              </a:rPr>
              <a:t>The design</a:t>
            </a:r>
            <a:endParaRPr lang="en-US" sz="1650" b="0" i="0" kern="0" dirty="0">
              <a:solidFill>
                <a:schemeClr val="dk1"/>
              </a:solidFill>
              <a:latin typeface="Inter SemiBold"/>
              <a:cs typeface="Inter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6775" y="2362200"/>
            <a:ext cx="3238500" cy="266700"/>
          </a:xfrm>
          <a:prstGeom prst="rect">
            <a:avLst/>
          </a:prstGeom>
          <a:noFill/>
        </p:spPr>
        <p:txBody>
          <a:bodyPr wrap="none" lIns="0" tIns="9525" rIns="0" bIns="0" anchor="t" rtlCol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dk1"/>
                </a:solidFill>
                <a:latin typeface="Inter SemiBold"/>
                <a:cs typeface="Inter SemiBold"/>
              </a:rPr>
              <a:t>PowerPoint’s render</a:t>
            </a:r>
            <a:endParaRPr lang="en-US" sz="1650" b="0" i="0" kern="0" dirty="0">
              <a:solidFill>
                <a:schemeClr val="dk1"/>
              </a:solidFill>
              <a:latin typeface="Inter SemiBold"/>
              <a:cs typeface="Inter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734425" y="2362200"/>
            <a:ext cx="2857500" cy="266700"/>
          </a:xfrm>
          <a:prstGeom prst="rect">
            <a:avLst/>
          </a:prstGeom>
          <a:noFill/>
        </p:spPr>
        <p:txBody>
          <a:bodyPr wrap="none" lIns="0" tIns="9525" rIns="0" bIns="0" anchor="t" rtlCol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accent1"/>
                </a:solidFill>
                <a:latin typeface="Inter SemiBold"/>
                <a:cs typeface="Inter SemiBold"/>
              </a:rPr>
              <a:t>Pixels that differ: 0.0%</a:t>
            </a:r>
            <a:endParaRPr lang="en-US" sz="1650" b="0" i="0" kern="0" dirty="0">
              <a:solidFill>
                <a:schemeClr val="accent1"/>
              </a:solidFill>
              <a:latin typeface="Inter SemiBold"/>
              <a:cs typeface="Inter SemiBold"/>
            </a:endParaRPr>
          </a:p>
        </p:txBody>
      </p:sp>
      <p:pic>
        <p:nvPicPr>
          <p:cNvPr id="6" name="QA compare" descr="Design, PowerPoint render and pixel difference for on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3200"/>
            <a:ext cx="12192000" cy="2295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410200"/>
            <a:ext cx="8801100" cy="723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kern="0" dirty="0">
                <a:solidFill>
                  <a:schemeClr val="dk1"/>
                </a:solidFill>
                <a:latin typeface="+mn-lt"/>
                <a:cs typeface="Inter"/>
              </a:rPr>
              <a:t>The check allows ±2 px for how renderers round glyphs.</a:t>
            </a:r>
            <a:br>
              <a:rPr lang="en-US" sz="2100" b="0" i="0" kern="0" dirty="0">
                <a:solidFill>
                  <a:schemeClr val="dk1"/>
                </a:solidFill>
                <a:latin typeface="+mn-lt"/>
                <a:cs typeface="Inter"/>
              </a:rPr>
            </a:br>
            <a:r>
              <a:rPr lang="en-US" sz="2100" b="0" i="0" kern="0" dirty="0">
                <a:solidFill>
                  <a:schemeClr val="dk1"/>
                </a:solidFill>
                <a:latin typeface="+mn-lt"/>
                <a:cs typeface="Inter"/>
              </a:rPr>
              <a:t>A rewrapped line, a shifted block or a wrong colour fails the build.</a:t>
            </a:r>
            <a:endParaRPr lang="en-US" sz="2100" b="0" i="0" kern="0" dirty="0">
              <a:solidFill>
                <a:schemeClr val="dk1"/>
              </a:solidFill>
              <a:latin typeface="+mn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at 0 px"/>
          <p:cNvSpPr txBox="1"/>
          <p:nvPr/>
        </p:nvSpPr>
        <p:spPr>
          <a:xfrm>
            <a:off x="447675" y="914400"/>
            <a:ext cx="6096000" cy="2476500"/>
          </a:xfrm>
          <a:prstGeom prst="rect">
            <a:avLst/>
          </a:prstGeom>
          <a:noFill/>
        </p:spPr>
        <p:txBody>
          <a:bodyPr wrap="none" lIns="0" tIns="400050" rIns="0" bIns="0" anchor="t" rtlCol="0">
            <a:noAutofit/>
          </a:bodyPr>
          <a:lstStyle/>
          <a:p>
            <a:pPr algn="l">
              <a:lnSpc>
                <a:spcPts val="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0" b="0" i="0" kern="0" dirty="0" spc="-630">
                <a:solidFill>
                  <a:schemeClr val="lt1"/>
                </a:solidFill>
                <a:latin typeface="Manrope ExtraBold"/>
                <a:cs typeface="Manrope ExtraBold"/>
              </a:rPr>
              <a:t>0</a:t>
            </a:r>
            <a:r>
              <a:rPr lang="en-US" sz="21000" b="0" i="0" kern="0" dirty="0" spc="-630">
                <a:solidFill>
                  <a:schemeClr val="accent2"/>
                </a:solidFill>
                <a:latin typeface="Manrope ExtraBold"/>
                <a:cs typeface="Manrope ExtraBold"/>
              </a:rPr>
              <a:t> px</a:t>
            </a:r>
            <a:endParaRPr lang="en-US" sz="21000" b="0" i="0" kern="0" dirty="0" spc="-630">
              <a:solidFill>
                <a:schemeClr val="accent2"/>
              </a:solidFill>
              <a:latin typeface="Manrope ExtraBold"/>
              <a:cs typeface="Manrope ExtraBold"/>
            </a:endParaRPr>
          </a:p>
        </p:txBody>
      </p:sp>
      <p:sp>
        <p:nvSpPr>
          <p:cNvPr id="3" name="Headline"/>
          <p:cNvSpPr txBox="1"/>
          <p:nvPr/>
        </p:nvSpPr>
        <p:spPr>
          <a:xfrm>
            <a:off x="609600" y="4038600"/>
            <a:ext cx="5943600" cy="990600"/>
          </a:xfrm>
          <a:prstGeom prst="rect">
            <a:avLst/>
          </a:prstGeom>
          <a:noFill/>
        </p:spPr>
        <p:txBody>
          <a:bodyPr wrap="square" lIns="0" tIns="25403" rIns="0" bIns="0" anchor="t" rtlCol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kern="0" dirty="0" spc="-50">
                <a:solidFill>
                  <a:schemeClr val="lt1"/>
                </a:solidFill>
                <a:latin typeface="+mj-lt"/>
                <a:cs typeface="Manrope"/>
              </a:rPr>
              <a:t>Text lands exactly</a:t>
            </a:r>
            <a:br>
              <a:rPr lang="en-US" sz="3300" b="1" i="0" kern="0" dirty="0" spc="-50">
                <a:solidFill>
                  <a:schemeClr val="lt1"/>
                </a:solidFill>
                <a:latin typeface="+mj-lt"/>
                <a:cs typeface="Manrope"/>
              </a:rPr>
            </a:br>
            <a:r>
              <a:rPr lang="en-US" sz="3300" b="1" i="0" kern="0" dirty="0" spc="-50">
                <a:solidFill>
                  <a:schemeClr val="lt1"/>
                </a:solidFill>
                <a:latin typeface="+mj-lt"/>
                <a:cs typeface="Manrope"/>
              </a:rPr>
              <a:t>where it was designed</a:t>
            </a:r>
            <a:endParaRPr lang="en-US" sz="3300" b="1" i="0" kern="0" dirty="0" spc="-50">
              <a:solidFill>
                <a:schemeClr val="lt1"/>
              </a:solidFill>
              <a:latin typeface="+mj-lt"/>
              <a:cs typeface="Manrop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5181600"/>
            <a:ext cx="5180981" cy="609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rgbClr val="BDBDC4"/>
                </a:solidFill>
                <a:latin typeface="+mn-lt"/>
                <a:cs typeface="Inter"/>
              </a:rPr>
              <a:t>Measured baseline error across 175 text styles, calibrated against PowerPoint itself.</a:t>
            </a:r>
            <a:endParaRPr lang="en-US" sz="1650" b="0" i="0" kern="0" dirty="0">
              <a:solidFill>
                <a:srgbClr val="BDBDC4"/>
              </a:solidFill>
              <a:latin typeface="+mn-lt"/>
              <a:cs typeface="Int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62800" y="1209675"/>
            <a:ext cx="9525" cy="4505325"/>
          </a:xfrm>
          <a:prstGeom prst="rect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Stat 25"/>
          <p:cNvGrpSpPr/>
          <p:nvPr/>
        </p:nvGrpSpPr>
        <p:grpSpPr>
          <a:xfrm>
            <a:off x="7620000" y="1085850"/>
            <a:ext cx="3962400" cy="1371600"/>
            <a:chOff x="7620000" y="1085850"/>
            <a:chExt cx="3962400" cy="1371600"/>
          </a:xfrm>
        </p:grpSpPr>
        <p:sp>
          <p:nvSpPr>
            <p:cNvPr id="7" name="TextBox 6"/>
            <p:cNvSpPr txBox="1"/>
            <p:nvPr/>
          </p:nvSpPr>
          <p:spPr>
            <a:xfrm>
              <a:off x="7620000" y="1085850"/>
              <a:ext cx="3962400" cy="914400"/>
            </a:xfrm>
            <a:prstGeom prst="rect">
              <a:avLst/>
            </a:prstGeom>
            <a:noFill/>
          </p:spPr>
          <p:txBody>
            <a:bodyPr wrap="none" lIns="0" tIns="114300" rIns="0" bIns="0" anchor="t" rtlCol="0">
              <a:noAutofit/>
            </a:bodyPr>
            <a:lstStyle/>
            <a:p>
              <a:pPr algn="l">
                <a:lnSpc>
                  <a:spcPts val="7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0" i="0" kern="0" dirty="0" spc="-216">
                  <a:solidFill>
                    <a:schemeClr val="lt1"/>
                  </a:solidFill>
                  <a:latin typeface="Manrope ExtraBold"/>
                  <a:cs typeface="Manrope ExtraBold"/>
                </a:rPr>
                <a:t>25</a:t>
              </a:r>
              <a:endParaRPr lang="en-US" sz="7200" b="0" i="0" kern="0" dirty="0" spc="-216">
                <a:solidFill>
                  <a:schemeClr val="lt1"/>
                </a:solidFill>
                <a:latin typeface="Manrope ExtraBold"/>
                <a:cs typeface="Manrope ExtraBold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620000" y="2152650"/>
              <a:ext cx="3962400" cy="30480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kern="0" dirty="0">
                  <a:solidFill>
                    <a:srgbClr val="BDBDC4"/>
                  </a:solidFill>
                  <a:latin typeface="+mn-lt"/>
                  <a:cs typeface="Inter"/>
                </a:rPr>
                <a:t>slide transitions, Morph included</a:t>
              </a:r>
              <a:endParaRPr lang="en-US" sz="1650" b="0" i="0" kern="0" dirty="0">
                <a:solidFill>
                  <a:srgbClr val="BDBDC4"/>
                </a:solidFill>
                <a:latin typeface="+mn-lt"/>
                <a:cs typeface="Inter"/>
              </a:endParaRPr>
            </a:p>
          </p:txBody>
        </p:sp>
      </p:grpSp>
      <p:grpSp>
        <p:nvGrpSpPr>
          <p:cNvPr id="9" name="Stat 14"/>
          <p:cNvGrpSpPr/>
          <p:nvPr/>
        </p:nvGrpSpPr>
        <p:grpSpPr>
          <a:xfrm>
            <a:off x="7620000" y="4114800"/>
            <a:ext cx="3962400" cy="1676400"/>
            <a:chOff x="7620000" y="4114800"/>
            <a:chExt cx="3962400" cy="1676400"/>
          </a:xfrm>
        </p:grpSpPr>
        <p:sp>
          <p:nvSpPr>
            <p:cNvPr id="10" name="TextBox 9"/>
            <p:cNvSpPr txBox="1"/>
            <p:nvPr/>
          </p:nvSpPr>
          <p:spPr>
            <a:xfrm>
              <a:off x="7620000" y="4114800"/>
              <a:ext cx="3962400" cy="914400"/>
            </a:xfrm>
            <a:prstGeom prst="rect">
              <a:avLst/>
            </a:prstGeom>
            <a:noFill/>
          </p:spPr>
          <p:txBody>
            <a:bodyPr wrap="none" lIns="0" tIns="114300" rIns="0" bIns="0" anchor="t" rtlCol="0">
              <a:noAutofit/>
            </a:bodyPr>
            <a:lstStyle/>
            <a:p>
              <a:pPr algn="l">
                <a:lnSpc>
                  <a:spcPts val="7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0" i="0" kern="0" dirty="0" spc="-216">
                  <a:solidFill>
                    <a:schemeClr val="lt1"/>
                  </a:solidFill>
                  <a:latin typeface="Manrope ExtraBold"/>
                  <a:cs typeface="Manrope ExtraBold"/>
                </a:rPr>
                <a:t>14</a:t>
              </a:r>
              <a:endParaRPr lang="en-US" sz="7200" b="0" i="0" kern="0" dirty="0" spc="-216">
                <a:solidFill>
                  <a:schemeClr val="lt1"/>
                </a:solidFill>
                <a:latin typeface="Manrope ExtraBold"/>
                <a:cs typeface="Manrope ExtraBold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620000" y="5181600"/>
              <a:ext cx="3919823" cy="6096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kern="0" dirty="0">
                  <a:solidFill>
                    <a:srgbClr val="BDBDC4"/>
                  </a:solidFill>
                  <a:latin typeface="+mn-lt"/>
                  <a:cs typeface="Inter"/>
                </a:rPr>
                <a:t>entrance animations, each read back from PowerPoint</a:t>
              </a:r>
              <a:endParaRPr lang="en-US" sz="1650" b="0" i="0" kern="0" dirty="0">
                <a:solidFill>
                  <a:srgbClr val="BDBDC4"/>
                </a:solidFill>
                <a:latin typeface="+mn-lt"/>
                <a:cs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609600" y="838200"/>
            <a:ext cx="9525000" cy="495300"/>
          </a:xfrm>
          <a:prstGeom prst="rect">
            <a:avLst/>
          </a:prstGeom>
          <a:noFill/>
        </p:spPr>
        <p:txBody>
          <a:bodyPr wrap="none" lIns="0" tIns="25403" rIns="0" bIns="0" anchor="t" rtlCol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kern="0" dirty="0" spc="-50">
                <a:solidFill>
                  <a:schemeClr val="dk1"/>
                </a:solidFill>
                <a:latin typeface="+mj-lt"/>
                <a:cs typeface="Manrope"/>
              </a:rPr>
              <a:t>Create a deck, edit yours in place, or review one</a:t>
            </a:r>
            <a:endParaRPr lang="en-US" sz="3300" b="1" i="0" kern="0" dirty="0" spc="-50">
              <a:solidFill>
                <a:schemeClr val="dk1"/>
              </a:solidFill>
              <a:latin typeface="+mj-lt"/>
              <a:cs typeface="Manrope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2209800"/>
            <a:ext cx="3429000" cy="342900"/>
          </a:xfrm>
          <a:prstGeom prst="rect">
            <a:avLst/>
          </a:prstGeom>
          <a:noFill/>
        </p:spPr>
        <p:txBody>
          <a:bodyPr wrap="none" lIns="0" tIns="19050" rIns="0" bIns="0" anchor="t" rtlCol="0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kern="0" dirty="0" spc="-63">
                <a:solidFill>
                  <a:schemeClr val="dk1"/>
                </a:solidFill>
                <a:latin typeface="Manrope ExtraBold"/>
                <a:cs typeface="Manrope ExtraBold"/>
              </a:rPr>
              <a:t>Create</a:t>
            </a:r>
            <a:endParaRPr lang="en-US" sz="2100" b="0" i="0" kern="0" dirty="0" spc="-63">
              <a:solidFill>
                <a:schemeClr val="dk1"/>
              </a:solidFill>
              <a:latin typeface="Manrope ExtraBold"/>
              <a:cs typeface="Manrope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2628900"/>
            <a:ext cx="3286696" cy="609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rgbClr val="646373"/>
                </a:solidFill>
                <a:latin typeface="+mn-lt"/>
                <a:cs typeface="Inter"/>
              </a:rPr>
              <a:t>A new deck from a brief, documents, data or a website</a:t>
            </a:r>
            <a:endParaRPr lang="en-US" sz="1650" b="0" i="0" kern="0" dirty="0">
              <a:solidFill>
                <a:srgbClr val="646373"/>
              </a:solidFill>
              <a:latin typeface="+mn-lt"/>
              <a:cs typeface="Int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3467100"/>
            <a:ext cx="3429000" cy="9525"/>
          </a:xfrm>
          <a:prstGeom prst="rect">
            <a:avLst/>
          </a:prstGeom>
          <a:solidFill>
            <a:srgbClr val="D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3695700"/>
            <a:ext cx="3429000" cy="342900"/>
          </a:xfrm>
          <a:prstGeom prst="rect">
            <a:avLst/>
          </a:prstGeom>
          <a:noFill/>
        </p:spPr>
        <p:txBody>
          <a:bodyPr wrap="none" lIns="0" tIns="19050" rIns="0" bIns="0" anchor="t" rtlCol="0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kern="0" dirty="0" spc="-63">
                <a:solidFill>
                  <a:schemeClr val="accent1"/>
                </a:solidFill>
                <a:latin typeface="Manrope ExtraBold"/>
                <a:cs typeface="Manrope ExtraBold"/>
              </a:rPr>
              <a:t>Edit</a:t>
            </a:r>
            <a:endParaRPr lang="en-US" sz="2100" b="0" i="0" kern="0" dirty="0" spc="-63">
              <a:solidFill>
                <a:schemeClr val="accent1"/>
              </a:solidFill>
              <a:latin typeface="Manrope ExtraBold"/>
              <a:cs typeface="Manrope Extra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4114800"/>
            <a:ext cx="3315557" cy="609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rgbClr val="646373"/>
                </a:solidFill>
                <a:latin typeface="+mn-lt"/>
                <a:cs typeface="Inter"/>
              </a:rPr>
              <a:t>Your deck, changed in place: words, numbers, charts, slides</a:t>
            </a:r>
            <a:endParaRPr lang="en-US" sz="1650" b="0" i="0" kern="0" dirty="0">
              <a:solidFill>
                <a:srgbClr val="646373"/>
              </a:solidFill>
              <a:latin typeface="+mn-lt"/>
              <a:cs typeface="Inter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4953000"/>
            <a:ext cx="3429000" cy="9525"/>
          </a:xfrm>
          <a:prstGeom prst="rect">
            <a:avLst/>
          </a:prstGeom>
          <a:solidFill>
            <a:srgbClr val="D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5181600"/>
            <a:ext cx="3429000" cy="342900"/>
          </a:xfrm>
          <a:prstGeom prst="rect">
            <a:avLst/>
          </a:prstGeom>
          <a:noFill/>
        </p:spPr>
        <p:txBody>
          <a:bodyPr wrap="none" lIns="0" tIns="19050" rIns="0" bIns="0" anchor="t" rtlCol="0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kern="0" dirty="0" spc="-63">
                <a:solidFill>
                  <a:schemeClr val="dk1"/>
                </a:solidFill>
                <a:latin typeface="Manrope ExtraBold"/>
                <a:cs typeface="Manrope ExtraBold"/>
              </a:rPr>
              <a:t>Review</a:t>
            </a:r>
            <a:endParaRPr lang="en-US" sz="2100" b="0" i="0" kern="0" dirty="0" spc="-63">
              <a:solidFill>
                <a:schemeClr val="dk1"/>
              </a:solidFill>
              <a:latin typeface="Manrope ExtraBold"/>
              <a:cs typeface="Manrope Extra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5600700"/>
            <a:ext cx="3207544" cy="609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rgbClr val="646373"/>
                </a:solidFill>
                <a:latin typeface="+mn-lt"/>
                <a:cs typeface="Inter"/>
              </a:rPr>
              <a:t>A scored critique of any deck, with exact fixes</a:t>
            </a:r>
            <a:endParaRPr lang="en-US" sz="1650" b="0" i="0" kern="0" dirty="0">
              <a:solidFill>
                <a:srgbClr val="646373"/>
              </a:solidFill>
              <a:latin typeface="+mn-lt"/>
              <a:cs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6300" y="1752600"/>
            <a:ext cx="4572000" cy="266700"/>
          </a:xfrm>
          <a:prstGeom prst="rect">
            <a:avLst/>
          </a:prstGeom>
          <a:noFill/>
        </p:spPr>
        <p:txBody>
          <a:bodyPr wrap="none" lIns="0" tIns="9525" rIns="0" bIns="0" anchor="t" rtlCol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rgbClr val="646373"/>
                </a:solidFill>
                <a:latin typeface="Inter SemiBold"/>
                <a:cs typeface="Inter SemiBold"/>
              </a:rPr>
              <a:t>Before: the Q3 review</a:t>
            </a:r>
            <a:endParaRPr lang="en-US" sz="1650" b="0" i="0" kern="0" dirty="0">
              <a:solidFill>
                <a:srgbClr val="646373"/>
              </a:solidFill>
              <a:latin typeface="Inter SemiBold"/>
              <a:cs typeface="Inter SemiBol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686300" y="2095500"/>
            <a:ext cx="4591050" cy="2667000"/>
          </a:xfrm>
          <a:prstGeom prst="roundRect">
            <a:avLst>
              <a:gd name="adj" fmla="val 5714"/>
            </a:avLst>
          </a:prstGeom>
          <a:solidFill>
            <a:srgbClr val="D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Before" descr="Q3 revenue chart slide before the ed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200275"/>
            <a:ext cx="4362450" cy="2457450"/>
          </a:xfrm>
          <a:prstGeom prst="roundRect">
            <a:avLst>
              <a:gd name="adj" fmla="val 3876"/>
            </a:avLst>
          </a:prstGeom>
        </p:spPr>
      </p:pic>
      <p:grpSp>
        <p:nvGrpSpPr>
          <p:cNvPr id="14" name="After"/>
          <p:cNvGrpSpPr/>
          <p:nvPr/>
        </p:nvGrpSpPr>
        <p:grpSpPr>
          <a:xfrm>
            <a:off x="6981825" y="3200400"/>
            <a:ext cx="4591050" cy="3276600"/>
            <a:chOff x="6981825" y="3200400"/>
            <a:chExt cx="4591050" cy="3276600"/>
          </a:xfrm>
        </p:grpSpPr>
        <p:sp>
          <p:nvSpPr>
            <p:cNvPr id="15" name="TextBox 14"/>
            <p:cNvSpPr txBox="1"/>
            <p:nvPr/>
          </p:nvSpPr>
          <p:spPr>
            <a:xfrm>
              <a:off x="6981825" y="3200400"/>
              <a:ext cx="4591050" cy="457200"/>
            </a:xfrm>
            <a:prstGeom prst="rect">
              <a:avLst/>
            </a:prstGeom>
            <a:noFill/>
          </p:spPr>
          <p:txBody>
            <a:bodyPr wrap="square" lIns="0" tIns="12697" rIns="0" bIns="0" anchor="t" rtlCol="0">
              <a:noAutofit/>
            </a:bodyPr>
            <a:lstStyle/>
            <a:p>
              <a:pPr algn="r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kern="0" dirty="0">
                  <a:solidFill>
                    <a:schemeClr val="accent1"/>
                  </a:solidFill>
                  <a:latin typeface="Inter SemiBold"/>
                  <a:cs typeface="Inter SemiBold"/>
                </a:rPr>
                <a:t>After: Q4, from</a:t>
              </a:r>
              <a:br>
                <a:rPr lang="en-US" sz="1650" b="0" i="0" kern="0" dirty="0">
                  <a:solidFill>
                    <a:schemeClr val="accent1"/>
                  </a:solidFill>
                  <a:latin typeface="Inter SemiBold"/>
                  <a:cs typeface="Inter SemiBold"/>
                </a:rPr>
              </a:br>
              <a:r>
                <a:rPr lang="en-US" sz="1650" b="0" i="0" kern="0" dirty="0">
                  <a:solidFill>
                    <a:schemeClr val="accent1"/>
                  </a:solidFill>
                  <a:latin typeface="Inter SemiBold"/>
                  <a:cs typeface="Inter SemiBold"/>
                </a:rPr>
                <a:t>one edits.json</a:t>
              </a:r>
              <a:endParaRPr lang="en-US" sz="1650" b="0" i="0" kern="0" dirty="0">
                <a:solidFill>
                  <a:schemeClr val="accent1"/>
                </a:solidFill>
                <a:latin typeface="Inter SemiBold"/>
                <a:cs typeface="Inter SemiBold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981825" y="3810000"/>
              <a:ext cx="4591050" cy="26670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7" name="Picture 16" descr="The same slide after the edit, now Q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6125" y="3914775"/>
              <a:ext cx="4362450" cy="2457450"/>
            </a:xfrm>
            <a:prstGeom prst="roundRect">
              <a:avLst>
                <a:gd name="adj" fmla="val 3876"/>
              </a:avLst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609600" y="838200"/>
            <a:ext cx="9753600" cy="990600"/>
          </a:xfrm>
          <a:prstGeom prst="rect">
            <a:avLst/>
          </a:prstGeom>
          <a:noFill/>
        </p:spPr>
        <p:txBody>
          <a:bodyPr wrap="square" lIns="0" tIns="25403" rIns="0" bIns="0" anchor="t" rtlCol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kern="0" dirty="0" spc="-50">
                <a:solidFill>
                  <a:schemeClr val="dk1"/>
                </a:solidFill>
                <a:latin typeface="+mj-lt"/>
                <a:cs typeface="Manrope"/>
              </a:rPr>
              <a:t>A fresh-eyes reviewer scores the design</a:t>
            </a:r>
            <a:br>
              <a:rPr lang="en-US" sz="3300" b="1" i="0" kern="0" dirty="0" spc="-50">
                <a:solidFill>
                  <a:schemeClr val="dk1"/>
                </a:solidFill>
                <a:latin typeface="+mj-lt"/>
                <a:cs typeface="Manrope"/>
              </a:rPr>
            </a:br>
            <a:r>
              <a:rPr lang="en-US" sz="3300" b="1" i="0" kern="0" dirty="0" spc="-50">
                <a:solidFill>
                  <a:schemeClr val="dk1"/>
                </a:solidFill>
                <a:latin typeface="+mj-lt"/>
                <a:cs typeface="Manrope"/>
              </a:rPr>
              <a:t>before anything ships</a:t>
            </a:r>
            <a:endParaRPr lang="en-US" sz="3300" b="1" i="0" kern="0" dirty="0" spc="-50">
              <a:solidFill>
                <a:schemeClr val="dk1"/>
              </a:solidFill>
              <a:latin typeface="+mj-lt"/>
              <a:cs typeface="Manrope"/>
            </a:endParaRPr>
          </a:p>
        </p:txBody>
      </p:sp>
      <p:graphicFrame>
        <p:nvGraphicFramePr>
          <p:cNvPr id="3" name="Chart – review scores"/>
          <p:cNvGraphicFramePr>
            <a:graphicFrameLocks noGrp="1"/>
          </p:cNvGraphicFramePr>
          <p:nvPr/>
        </p:nvGraphicFramePr>
        <p:xfrm>
          <a:off x="523875" y="2438400"/>
          <a:ext cx="6181725" cy="3733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09600" y="2105025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9B2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9150" y="2076450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dk1"/>
                </a:solidFill>
                <a:latin typeface="+mn-lt"/>
                <a:cs typeface="Inter"/>
              </a:rPr>
              <a:t>Round 1</a:t>
            </a:r>
            <a:endParaRPr lang="en-US" sz="1050" b="0" i="0" kern="0" dirty="0">
              <a:solidFill>
                <a:schemeClr val="dk1"/>
              </a:solidFill>
              <a:latin typeface="+mn-lt"/>
              <a:cs typeface="Inter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676400" y="2105025"/>
            <a:ext cx="133350" cy="133350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85950" y="2076450"/>
            <a:ext cx="2095500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dk1"/>
                </a:solidFill>
                <a:latin typeface="+mn-lt"/>
                <a:cs typeface="Inter"/>
              </a:rPr>
              <a:t>Round 2, after the fixes</a:t>
            </a:r>
            <a:endParaRPr lang="en-US" sz="1050" b="0" i="0" kern="0" dirty="0">
              <a:solidFill>
                <a:schemeClr val="dk1"/>
              </a:solidFill>
              <a:latin typeface="+mn-lt"/>
              <a:cs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67600" y="2209800"/>
            <a:ext cx="4114800" cy="266700"/>
          </a:xfrm>
          <a:prstGeom prst="rect">
            <a:avLst/>
          </a:prstGeom>
          <a:noFill/>
        </p:spPr>
        <p:txBody>
          <a:bodyPr wrap="none" lIns="0" tIns="9525" rIns="0" bIns="0" anchor="t" rtlCol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accent1"/>
                </a:solidFill>
                <a:latin typeface="Inter SemiBold"/>
                <a:cs typeface="Inter SemiBold"/>
              </a:rPr>
              <a:t>A real finding from round 1</a:t>
            </a:r>
            <a:endParaRPr lang="en-US" sz="1650" b="0" i="0" kern="0" dirty="0">
              <a:solidFill>
                <a:schemeClr val="accent1"/>
              </a:solidFill>
              <a:latin typeface="Inter SemiBold"/>
              <a:cs typeface="Inter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67600" y="2552700"/>
            <a:ext cx="4176570" cy="1219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dk1"/>
                </a:solidFill>
                <a:latin typeface="+mn-lt"/>
                <a:cs typeface="Inter"/>
              </a:rPr>
              <a:t>“Terracotta lands on $0.9M software, the smallest use of the money. On the ask slide it tells investors that software is the point.”</a:t>
            </a:r>
            <a:endParaRPr lang="en-US" sz="1650" b="0" i="0" kern="0" dirty="0">
              <a:solidFill>
                <a:schemeClr val="dk1"/>
              </a:solidFill>
              <a:latin typeface="+mn-lt"/>
              <a:cs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67600" y="4191000"/>
            <a:ext cx="4260961" cy="609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rgbClr val="646373"/>
                </a:solidFill>
                <a:latin typeface="+mn-lt"/>
                <a:cs typeface="Inter"/>
              </a:rPr>
              <a:t>Fix: put Terracotta on the $3.5M of roof builds. Fixed in round 2.</a:t>
            </a:r>
            <a:endParaRPr lang="en-US" sz="1650" b="0" i="0" kern="0" dirty="0">
              <a:solidFill>
                <a:srgbClr val="646373"/>
              </a:solidFill>
              <a:latin typeface="+mn-lt"/>
              <a:cs typeface="Int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67600" y="5257800"/>
            <a:ext cx="4114800" cy="9525"/>
          </a:xfrm>
          <a:prstGeom prst="rect">
            <a:avLst/>
          </a:prstGeom>
          <a:solidFill>
            <a:srgbClr val="CFC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7600" y="5486400"/>
            <a:ext cx="4114800" cy="266700"/>
          </a:xfrm>
          <a:prstGeom prst="rect">
            <a:avLst/>
          </a:prstGeom>
          <a:noFill/>
        </p:spPr>
        <p:txBody>
          <a:bodyPr wrap="none" lIns="0" tIns="9525" rIns="0" bIns="0" anchor="t" rtlCol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dk1"/>
                </a:solidFill>
                <a:latin typeface="Inter SemiBold"/>
                <a:cs typeface="Inter SemiBold"/>
              </a:rPr>
              <a:t>Nothing ships with a score below 4.</a:t>
            </a:r>
            <a:endParaRPr lang="en-US" sz="1650" b="0" i="0" kern="0" dirty="0">
              <a:solidFill>
                <a:schemeClr val="dk1"/>
              </a:solidFill>
              <a:latin typeface="Inter SemiBold"/>
              <a:cs typeface="Inter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600" y="6324600"/>
            <a:ext cx="6096000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rgbClr val="646373"/>
                </a:solidFill>
                <a:latin typeface="+mn-lt"/>
                <a:cs typeface="Inter"/>
              </a:rPr>
              <a:t>Scores out of 5 for the Fernway example, rounds 1 and 2 (examples/pitch-deck/qa/review.json).</a:t>
            </a:r>
            <a:endParaRPr lang="en-US" sz="1050" b="0" i="0" kern="0" dirty="0">
              <a:solidFill>
                <a:srgbClr val="646373"/>
              </a:solidFill>
              <a:latin typeface="+mn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38900" y="2628900"/>
            <a:ext cx="3771900" cy="2914650"/>
          </a:xfrm>
          <a:prstGeom prst="roundRect">
            <a:avLst>
              <a:gd name="adj" fmla="val 20588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24700" y="2028825"/>
            <a:ext cx="3771900" cy="2914650"/>
          </a:xfrm>
          <a:prstGeom prst="roundRect">
            <a:avLst>
              <a:gd name="adj" fmla="val 20588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Fernway title slide" descr="A deck Slidekick made: the Fernway title slide"/>
          <p:cNvPicPr>
            <a:picLocks noChangeAspect="1"/>
          </p:cNvPicPr>
          <p:nvPr/>
        </p:nvPicPr>
        <p:blipFill>
          <a:blip r:embed="rId2"/>
          <a:srcRect r="27206"/>
          <a:stretch>
            <a:fillRect/>
          </a:stretch>
        </p:blipFill>
        <p:spPr>
          <a:xfrm>
            <a:off x="7810500" y="1428750"/>
            <a:ext cx="3771900" cy="2914650"/>
          </a:xfrm>
          <a:prstGeom prst="roundRect">
            <a:avLst>
              <a:gd name="adj" fmla="val 20588"/>
            </a:avLst>
          </a:prstGeom>
        </p:spPr>
      </p:pic>
      <p:sp>
        <p:nvSpPr>
          <p:cNvPr id="5" name="Headline"/>
          <p:cNvSpPr txBox="1"/>
          <p:nvPr/>
        </p:nvSpPr>
        <p:spPr>
          <a:xfrm>
            <a:off x="609600" y="1524000"/>
            <a:ext cx="5943600" cy="1905000"/>
          </a:xfrm>
          <a:prstGeom prst="rect">
            <a:avLst/>
          </a:prstGeom>
          <a:noFill/>
        </p:spPr>
        <p:txBody>
          <a:bodyPr wrap="square" lIns="0" tIns="104775" rIns="0" bIns="0" anchor="t" rtlCol="0">
            <a:noAutofit/>
          </a:bodyPr>
          <a:lstStyle/>
          <a:p>
            <a:pPr algn="l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kern="0" dirty="0" spc="-216">
                <a:solidFill>
                  <a:schemeClr val="lt1"/>
                </a:solidFill>
                <a:latin typeface="Manrope ExtraBold"/>
                <a:cs typeface="Manrope ExtraBold"/>
              </a:rPr>
              <a:t>Try it on your next deck</a:t>
            </a:r>
            <a:endParaRPr lang="en-US" sz="7200" b="0" i="0" kern="0" dirty="0" spc="-216">
              <a:solidFill>
                <a:schemeClr val="lt1"/>
              </a:solidFill>
              <a:latin typeface="Manrope ExtraBold"/>
              <a:cs typeface="Manrope ExtraBold"/>
            </a:endParaRPr>
          </a:p>
        </p:txBody>
      </p:sp>
      <p:sp>
        <p:nvSpPr>
          <p:cNvPr id="6" name="Command box"/>
          <p:cNvSpPr/>
          <p:nvPr/>
        </p:nvSpPr>
        <p:spPr>
          <a:xfrm>
            <a:off x="614362" y="3814762"/>
            <a:ext cx="4791075" cy="676275"/>
          </a:xfrm>
          <a:prstGeom prst="roundRect">
            <a:avLst>
              <a:gd name="adj" fmla="val 16197"/>
            </a:avLst>
          </a:prstGeom>
          <a:solidFill>
            <a:srgbClr val="27253C"/>
          </a:solidFill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Install command"/>
          <p:cNvSpPr txBox="1"/>
          <p:nvPr/>
        </p:nvSpPr>
        <p:spPr>
          <a:xfrm>
            <a:off x="838200" y="3990975"/>
            <a:ext cx="4572000" cy="323850"/>
          </a:xfrm>
          <a:prstGeom prst="rect">
            <a:avLst/>
          </a:prstGeom>
          <a:noFill/>
        </p:spPr>
        <p:txBody>
          <a:bodyPr wrap="none" lIns="0" tIns="9525" rIns="0" bIns="0" anchor="t" rtlCol="0">
            <a:noAutofit/>
          </a:bodyPr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kern="0" dirty="0">
                <a:solidFill>
                  <a:schemeClr val="lt1"/>
                </a:solidFill>
                <a:latin typeface="Inter SemiBold"/>
                <a:cs typeface="Inter SemiBold"/>
              </a:rPr>
              <a:t>/plugin install slidekick@slidekick</a:t>
            </a:r>
            <a:endParaRPr lang="en-US" sz="2100" b="0" i="0" kern="0" dirty="0">
              <a:solidFill>
                <a:schemeClr val="lt1"/>
              </a:solidFill>
              <a:latin typeface="Inter SemiBold"/>
              <a:cs typeface="Inter SemiBold"/>
            </a:endParaRPr>
          </a:p>
        </p:txBody>
      </p:sp>
      <p:sp>
        <p:nvSpPr>
          <p:cNvPr id="8" name="Repo"/>
          <p:cNvSpPr txBox="1"/>
          <p:nvPr/>
        </p:nvSpPr>
        <p:spPr>
          <a:xfrm>
            <a:off x="609600" y="4724400"/>
            <a:ext cx="5334000" cy="3619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kern="0" dirty="0">
                <a:solidFill>
                  <a:srgbClr val="BDBDC4"/>
                </a:solidFill>
                <a:latin typeface="+mn-lt"/>
                <a:cs typeface="Inter"/>
              </a:rPr>
              <a:t>github.com/aarshx05/slidekick</a:t>
            </a:r>
            <a:endParaRPr lang="en-US" sz="2100" b="0" i="0" kern="0" dirty="0">
              <a:solidFill>
                <a:srgbClr val="BDBDC4"/>
              </a:solidFill>
              <a:latin typeface="+mn-lt"/>
              <a:cs typeface="Inter"/>
            </a:endParaRPr>
          </a:p>
        </p:txBody>
      </p:sp>
      <p:pic>
        <p:nvPicPr>
          <p:cNvPr id="9" name="Logo" descr="Slidekick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905500"/>
            <a:ext cx="2457450" cy="342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14122B"/>
      </a:dk1>
      <a:lt1>
        <a:srgbClr val="FFFFFF"/>
      </a:lt1>
      <a:dk2>
        <a:srgbClr val="26224D"/>
      </a:dk2>
      <a:lt2>
        <a:srgbClr val="F3F2FF"/>
      </a:lt2>
      <a:accent1>
        <a:srgbClr val="5B4BFF"/>
      </a:accent1>
      <a:accent2>
        <a:srgbClr val="FF6B4A"/>
      </a:accent2>
      <a:accent3>
        <a:srgbClr val="18C29C"/>
      </a:accent3>
      <a:accent4>
        <a:srgbClr val="2EA8FF"/>
      </a:accent4>
      <a:accent5>
        <a:srgbClr val="FFC23D"/>
      </a:accent5>
      <a:accent6>
        <a:srgbClr val="5E5B7A"/>
      </a:accent6>
      <a:hlink>
        <a:srgbClr val="5B4BFF"/>
      </a:hlink>
      <a:folHlink>
        <a:srgbClr val="8A7DFF"/>
      </a:folHlink>
    </a:clrScheme>
    <a:fontScheme name="Office">
      <a:majorFont>
        <a:latin typeface="Manrope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ck-template.potx" id="{BB5C8C20-C4EE-401A-BA54-B6EF0C82AB3E}" vid="{9EDBE21A-0D51-4DC4-8F70-9E016AAE9C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Inter</vt:lpstr>
      <vt:lpstr>Manrope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2026-10-10T07:20:24Z</dcterms:created>
  <dcterms:modified xsi:type="dcterms:W3CDTF">2026-10-10T07:20:24Z</dcterms:modified>
</cp:coreProperties>
</file>