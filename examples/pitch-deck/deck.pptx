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media/image11.svg" ContentType="image/svg+xml"/>
  <Override PartName="/ppt/media/image14.svg" ContentType="image/svg+xml"/>
  <Override PartName="/ppt/media/image16.svg" ContentType="image/svg+xml"/>
  <Override PartName="/ppt/media/image18.svg" ContentType="image/svg+xml"/>
  <Override PartName="/ppt/media/image2.svg" ContentType="image/svg+xml"/>
  <Override PartName="/ppt/media/image20.svg" ContentType="image/svg+xml"/>
  <Override PartName="/ppt/media/image22.svg" ContentType="image/svg+xml"/>
  <Override PartName="/ppt/media/image5.svg" ContentType="image/svg+xml"/>
  <Override PartName="/ppt/media/image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 ($k)</c:v>
                </c:pt>
              </c:strCache>
            </c:strRef>
          </c:tx>
          <c:spPr>
            <a:solidFill>
              <a:srgbClr val="1E3D2C"/>
            </a:solidFill>
          </c:spPr>
          <c:cat>
            <c:strRef>
              <c:f>Sheet1!$A$2:$A$6</c:f>
              <c:strCache>
                <c:ptCount val="5"/>
                <c:pt idx="0">
                  <c:v>Q3 2025</c:v>
                </c:pt>
                <c:pt idx="1">
                  <c:v>Q4 2025</c:v>
                </c:pt>
                <c:pt idx="2">
                  <c:v>Q1 2026</c:v>
                </c:pt>
                <c:pt idx="3">
                  <c:v>Q2 2026</c:v>
                </c:pt>
                <c:pt idx="4">
                  <c:v>Q3 2026</c:v>
                </c:pt>
              </c:strCache>
            </c:strRef>
          </c:cat>
          <c:val>
            <c:numRef>
              <c:f>Sheet1!$B$2:$B$6</c:f>
              <c:numCache>
                <c:formatCode>$#,##0"k"</c:formatCode>
                <c:ptCount val="5"/>
                <c:pt idx="0">
                  <c:v>38</c:v>
                </c:pt>
                <c:pt idx="1">
                  <c:v>71</c:v>
                </c:pt>
                <c:pt idx="2">
                  <c:v>118</c:v>
                </c:pt>
                <c:pt idx="3">
                  <c:v>196</c:v>
                </c:pt>
                <c:pt idx="4">
                  <c:v>262</c:v>
                </c:pt>
              </c:numCache>
            </c:numRef>
          </c:val>
        </c:ser>
        <c:dLbls>
          <c:numFmt formatCode="$#,##0&quot;k&quot;" sourceLinked="0"/>
          <c:txPr>
            <a:bodyPr/>
            <a:lstStyle/>
            <a:p>
              <a:pPr>
                <a:defRPr sz="1350"/>
              </a:pPr>
            </a:p>
          </c:txPr>
          <c:dLblPos val="outEnd"/>
          <c:showLegendKey val="0"/>
          <c:showVal val="1"/>
          <c:showCatName val="0"/>
          <c:showSerName val="0"/>
          <c:showPercent val="0"/>
          <c:showBubbleSize val="0"/>
          <c:showLeaderLines val="1"/>
        </c:dLbls>
        <c:gapWidth val="56"/>
        <c:axId val="-2068027336"/>
        <c:axId val="-2113994440"/>
      </c:barChart>
      <c:catAx>
        <c:axId val="-2068027336"/>
        <c:scaling>
          <c:orientation val="minMax"/>
        </c:scaling>
        <c:delete val="0"/>
        <c:axPos val="b"/>
        <c:majorTickMark val="out"/>
        <c:minorTickMark val="none"/>
        <c:tickLblPos val="nextTo"/>
        <c:spPr>
          <a:ln>
            <a:solidFill>
              <a:srgbClr val="F6F0E4"/>
            </a:solidFill>
          </a:ln>
        </c:spPr>
        <c:crossAx val="-2113994440"/>
        <c:crosses val="autoZero"/>
        <c:auto val="1"/>
        <c:lblAlgn val="ctr"/>
        <c:lblOffset val="100"/>
        <c:noMultiLvlLbl val="0"/>
      </c:catAx>
      <c:valAx>
        <c:axId val="-2113994440"/>
        <c:scaling/>
        <c:delete/>
        <c:axPos val="l"/>
        <c:numFmt formatCode="$#,##0&quot;k&quot;" sourceLinked="0"/>
        <c:majorTickMark val="out"/>
        <c:minorTickMark val="none"/>
        <c:tickLblPos val="nextTo"/>
        <c:spPr>
          <a:ln>
            <a:noFill/>
          </a:ln>
        </c:spPr>
        <c:crossAx val="-2068027336"/>
        <c:crosses val="autoZero"/>
      </c:valAx>
    </c:plotArea>
    <c:dispBlanksAs val="gap"/>
  </c:chart>
  <c:txPr>
    <a:bodyPr/>
    <a:lstStyle/>
    <a:p>
      <a:pPr>
        <a:defRPr sz="1350">
          <a:solidFill>
            <a:srgbClr val="13261B"/>
          </a:solidFill>
          <a:latin typeface="DM San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Base</c:v>
                </c:pt>
              </c:strCache>
            </c:strRef>
          </c:tx>
          <c:spPr>
            <a:solidFill>
              <a:srgbClr val="F6F0E4"/>
            </a:solidFill>
          </c:spPr>
          <c:cat>
            <c:strRef>
              <c:f>Sheet1!$A$2:$A$6</c:f>
              <c:strCache>
                <c:ptCount val="5"/>
                <c:pt idx="0">
                  <c:v>Contribution   $124k</c:v>
                </c:pt>
                <c:pt idx="1">
                  <c:v>Roof lease and upkeep   −$36k</c:v>
                </c:pt>
                <c:pt idx="2">
                  <c:v>Inputs and energy   −$121k</c:v>
                </c:pt>
                <c:pt idx="3">
                  <c:v>Labour   −$132k</c:v>
                </c:pt>
                <c:pt idx="4">
                  <c:v>Revenue   $413k</c:v>
                </c:pt>
              </c:strCache>
            </c:strRef>
          </c:cat>
          <c:val>
            <c:numRef>
              <c:f>Sheet1!$B$2:$B$6</c:f>
              <c:numCache>
                <c:formatCode>General</c:formatCode>
                <c:ptCount val="5"/>
                <c:pt idx="0">
                  <c:v>0</c:v>
                </c:pt>
                <c:pt idx="1">
                  <c:v>124</c:v>
                </c:pt>
                <c:pt idx="2">
                  <c:v>160</c:v>
                </c:pt>
                <c:pt idx="3">
                  <c:v>281</c:v>
                </c:pt>
                <c:pt idx="4">
                  <c:v>0</c:v>
                </c:pt>
              </c:numCache>
            </c:numRef>
          </c:val>
        </c:ser>
        <c:ser>
          <c:idx val="1"/>
          <c:order val="1"/>
          <c:tx>
            <c:strRef>
              <c:f>Sheet1!$C$1</c:f>
              <c:strCache>
                <c:ptCount val="1"/>
                <c:pt idx="0">
                  <c:v>Revenue</c:v>
                </c:pt>
              </c:strCache>
            </c:strRef>
          </c:tx>
          <c:spPr>
            <a:solidFill>
              <a:srgbClr val="1E3D2C"/>
            </a:solidFill>
          </c:spPr>
          <c:cat>
            <c:strRef>
              <c:f>Sheet1!$A$2:$A$6</c:f>
              <c:strCache>
                <c:ptCount val="5"/>
                <c:pt idx="0">
                  <c:v>Contribution   $124k</c:v>
                </c:pt>
                <c:pt idx="1">
                  <c:v>Roof lease and upkeep   −$36k</c:v>
                </c:pt>
                <c:pt idx="2">
                  <c:v>Inputs and energy   −$121k</c:v>
                </c:pt>
                <c:pt idx="3">
                  <c:v>Labour   −$132k</c:v>
                </c:pt>
                <c:pt idx="4">
                  <c:v>Revenue   $413k</c:v>
                </c:pt>
              </c:strCache>
            </c:strRef>
          </c:cat>
          <c:val>
            <c:numRef>
              <c:f>Sheet1!$C$2:$C$6</c:f>
              <c:numCache>
                <c:formatCode>General</c:formatCode>
                <c:ptCount val="5"/>
                <c:pt idx="0">
                  <c:v>0</c:v>
                </c:pt>
                <c:pt idx="1">
                  <c:v>0</c:v>
                </c:pt>
                <c:pt idx="2">
                  <c:v>0</c:v>
                </c:pt>
                <c:pt idx="3">
                  <c:v>0</c:v>
                </c:pt>
                <c:pt idx="4">
                  <c:v>413</c:v>
                </c:pt>
              </c:numCache>
            </c:numRef>
          </c:val>
        </c:ser>
        <c:ser>
          <c:idx val="2"/>
          <c:order val="2"/>
          <c:tx>
            <c:strRef>
              <c:f>Sheet1!$D$1</c:f>
              <c:strCache>
                <c:ptCount val="1"/>
                <c:pt idx="0">
                  <c:v>Costs</c:v>
                </c:pt>
              </c:strCache>
            </c:strRef>
          </c:tx>
          <c:spPr>
            <a:solidFill>
              <a:srgbClr val="7F9C7A"/>
            </a:solidFill>
          </c:spPr>
          <c:cat>
            <c:strRef>
              <c:f>Sheet1!$A$2:$A$6</c:f>
              <c:strCache>
                <c:ptCount val="5"/>
                <c:pt idx="0">
                  <c:v>Contribution   $124k</c:v>
                </c:pt>
                <c:pt idx="1">
                  <c:v>Roof lease and upkeep   −$36k</c:v>
                </c:pt>
                <c:pt idx="2">
                  <c:v>Inputs and energy   −$121k</c:v>
                </c:pt>
                <c:pt idx="3">
                  <c:v>Labour   −$132k</c:v>
                </c:pt>
                <c:pt idx="4">
                  <c:v>Revenue   $413k</c:v>
                </c:pt>
              </c:strCache>
            </c:strRef>
          </c:cat>
          <c:val>
            <c:numRef>
              <c:f>Sheet1!$D$2:$D$6</c:f>
              <c:numCache>
                <c:formatCode>General</c:formatCode>
                <c:ptCount val="5"/>
                <c:pt idx="0">
                  <c:v>0</c:v>
                </c:pt>
                <c:pt idx="1">
                  <c:v>36</c:v>
                </c:pt>
                <c:pt idx="2">
                  <c:v>121</c:v>
                </c:pt>
                <c:pt idx="3">
                  <c:v>132</c:v>
                </c:pt>
                <c:pt idx="4">
                  <c:v>0</c:v>
                </c:pt>
              </c:numCache>
            </c:numRef>
          </c:val>
        </c:ser>
        <c:ser>
          <c:idx val="3"/>
          <c:order val="3"/>
          <c:tx>
            <c:strRef>
              <c:f>Sheet1!$E$1</c:f>
              <c:strCache>
                <c:ptCount val="1"/>
                <c:pt idx="0">
                  <c:v>Contribution</c:v>
                </c:pt>
              </c:strCache>
            </c:strRef>
          </c:tx>
          <c:spPr>
            <a:solidFill>
              <a:srgbClr val="C2593A"/>
            </a:solidFill>
          </c:spPr>
          <c:cat>
            <c:strRef>
              <c:f>Sheet1!$A$2:$A$6</c:f>
              <c:strCache>
                <c:ptCount val="5"/>
                <c:pt idx="0">
                  <c:v>Contribution   $124k</c:v>
                </c:pt>
                <c:pt idx="1">
                  <c:v>Roof lease and upkeep   −$36k</c:v>
                </c:pt>
                <c:pt idx="2">
                  <c:v>Inputs and energy   −$121k</c:v>
                </c:pt>
                <c:pt idx="3">
                  <c:v>Labour   −$132k</c:v>
                </c:pt>
                <c:pt idx="4">
                  <c:v>Revenue   $413k</c:v>
                </c:pt>
              </c:strCache>
            </c:strRef>
          </c:cat>
          <c:val>
            <c:numRef>
              <c:f>Sheet1!$E$2:$E$6</c:f>
              <c:numCache>
                <c:formatCode>General</c:formatCode>
                <c:ptCount val="5"/>
                <c:pt idx="0">
                  <c:v>124</c:v>
                </c:pt>
                <c:pt idx="1">
                  <c:v>0</c:v>
                </c:pt>
                <c:pt idx="2">
                  <c:v>0</c:v>
                </c:pt>
                <c:pt idx="3">
                  <c:v>0</c:v>
                </c:pt>
                <c:pt idx="4">
                  <c:v>0</c:v>
                </c:pt>
              </c:numCache>
            </c:numRef>
          </c:val>
        </c:ser>
        <c:gapWidth val="36"/>
        <c:overlap val="100"/>
        <c:axId val="-2068027336"/>
        <c:axId val="-2113994440"/>
      </c:barChart>
      <c:catAx>
        <c:axId val="-2068027336"/>
        <c:scaling>
          <c:orientation val="minMax"/>
        </c:scaling>
        <c:delete val="0"/>
        <c:axPos val="l"/>
        <c:majorTickMark val="out"/>
        <c:minorTickMark val="none"/>
        <c:tickLblPos val="nextTo"/>
        <c:spPr>
          <a:ln>
            <a:solidFill>
              <a:srgbClr val="F6F0E4"/>
            </a:solidFill>
          </a:ln>
        </c:spPr>
        <c:crossAx val="-2113994440"/>
        <c:crosses val="autoZero"/>
        <c:auto val="1"/>
        <c:lblAlgn val="ctr"/>
        <c:lblOffset val="100"/>
        <c:noMultiLvlLbl val="0"/>
      </c:catAx>
      <c:valAx>
        <c:axId val="-2113994440"/>
        <c:scaling>
          <c:max val="420.0"/>
          <c:min val="0.0"/>
        </c:scaling>
        <c:delete/>
        <c:axPos val="b"/>
        <c:numFmt formatCode="General" sourceLinked="0"/>
        <c:majorTickMark val="out"/>
        <c:minorTickMark val="none"/>
        <c:tickLblPos val="nextTo"/>
        <c:spPr>
          <a:ln>
            <a:noFill/>
          </a:ln>
        </c:spPr>
        <c:crossAx val="-2068027336"/>
        <c:crosses val="autoZero"/>
      </c:valAx>
    </c:plotArea>
    <c:dispBlanksAs val="gap"/>
  </c:chart>
  <c:txPr>
    <a:bodyPr/>
    <a:lstStyle/>
    <a:p>
      <a:pPr>
        <a:defRPr sz="1350">
          <a:solidFill>
            <a:srgbClr val="13261B"/>
          </a:solidFill>
          <a:latin typeface="DM Sans"/>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stacked"/>
        <c:ser>
          <c:idx val="0"/>
          <c:order val="0"/>
          <c:tx>
            <c:strRef>
              <c:f>Sheet1!$B$1</c:f>
              <c:strCache>
                <c:ptCount val="1"/>
                <c:pt idx="0">
                  <c:v>Roofs we can build on</c:v>
                </c:pt>
              </c:strCache>
            </c:strRef>
          </c:tx>
          <c:spPr>
            <a:solidFill>
              <a:srgbClr val="1E3D2C"/>
            </a:solidFill>
          </c:spPr>
          <c:cat>
            <c:strRef>
              <c:f>Sheet1!$A$2:$A$4</c:f>
              <c:strCache>
                <c:ptCount val="3"/>
                <c:pt idx="0">
                  <c:v>2030 goal, 400 roofs   $165M</c:v>
                </c:pt>
                <c:pt idx="1">
                  <c:v>Suitable roofs (SAM)   $3.9B</c:v>
                </c:pt>
                <c:pt idx="2">
                  <c:v>Greens and herbs (TAM)   $14.8B</c:v>
                </c:pt>
              </c:strCache>
            </c:strRef>
          </c:cat>
          <c:val>
            <c:numRef>
              <c:f>Sheet1!$B$2:$B$4</c:f>
              <c:numCache>
                <c:formatCode>General</c:formatCode>
                <c:ptCount val="3"/>
                <c:pt idx="0">
                  <c:v>165</c:v>
                </c:pt>
                <c:pt idx="1">
                  <c:v>3880</c:v>
                </c:pt>
                <c:pt idx="2">
                  <c:v>3880</c:v>
                </c:pt>
              </c:numCache>
            </c:numRef>
          </c:val>
        </c:ser>
        <c:ser>
          <c:idx val="1"/>
          <c:order val="1"/>
          <c:tx>
            <c:strRef>
              <c:f>Sheet1!$C$1</c:f>
              <c:strCache>
                <c:ptCount val="1"/>
                <c:pt idx="0">
                  <c:v>Rest of the category</c:v>
                </c:pt>
              </c:strCache>
            </c:strRef>
          </c:tx>
          <c:spPr>
            <a:solidFill>
              <a:srgbClr val="B9C9B3"/>
            </a:solidFill>
          </c:spPr>
          <c:cat>
            <c:strRef>
              <c:f>Sheet1!$A$2:$A$4</c:f>
              <c:strCache>
                <c:ptCount val="3"/>
                <c:pt idx="0">
                  <c:v>2030 goal, 400 roofs   $165M</c:v>
                </c:pt>
                <c:pt idx="1">
                  <c:v>Suitable roofs (SAM)   $3.9B</c:v>
                </c:pt>
                <c:pt idx="2">
                  <c:v>Greens and herbs (TAM)   $14.8B</c:v>
                </c:pt>
              </c:strCache>
            </c:strRef>
          </c:cat>
          <c:val>
            <c:numRef>
              <c:f>Sheet1!$C$2:$C$4</c:f>
              <c:numCache>
                <c:formatCode>General</c:formatCode>
                <c:ptCount val="3"/>
                <c:pt idx="0">
                  <c:v>0</c:v>
                </c:pt>
                <c:pt idx="1">
                  <c:v>0</c:v>
                </c:pt>
                <c:pt idx="2">
                  <c:v>10920</c:v>
                </c:pt>
              </c:numCache>
            </c:numRef>
          </c:val>
        </c:ser>
        <c:gapWidth val="44"/>
        <c:overlap val="100"/>
        <c:axId val="-2068027336"/>
        <c:axId val="-2113994440"/>
      </c:barChart>
      <c:catAx>
        <c:axId val="-2068027336"/>
        <c:scaling>
          <c:orientation val="minMax"/>
        </c:scaling>
        <c:delete val="0"/>
        <c:axPos val="l"/>
        <c:majorTickMark val="out"/>
        <c:minorTickMark val="none"/>
        <c:tickLblPos val="nextTo"/>
        <c:spPr>
          <a:ln>
            <a:solidFill>
              <a:srgbClr val="E9DFCC"/>
            </a:solidFill>
          </a:ln>
        </c:spPr>
        <c:crossAx val="-2113994440"/>
        <c:crosses val="autoZero"/>
        <c:auto val="1"/>
        <c:lblAlgn val="ctr"/>
        <c:lblOffset val="100"/>
        <c:noMultiLvlLbl val="0"/>
      </c:catAx>
      <c:valAx>
        <c:axId val="-2113994440"/>
        <c:scaling>
          <c:max val="15000.0"/>
          <c:min val="0.0"/>
        </c:scaling>
        <c:delete/>
        <c:axPos val="b"/>
        <c:numFmt formatCode="General" sourceLinked="0"/>
        <c:majorTickMark val="out"/>
        <c:minorTickMark val="none"/>
        <c:tickLblPos val="nextTo"/>
        <c:spPr>
          <a:ln>
            <a:noFill/>
          </a:ln>
        </c:spPr>
        <c:crossAx val="-2068027336"/>
        <c:crosses val="autoZero"/>
      </c:valAx>
    </c:plotArea>
    <c:dispBlanksAs val="gap"/>
  </c:chart>
  <c:txPr>
    <a:bodyPr/>
    <a:lstStyle/>
    <a:p>
      <a:pPr>
        <a:defRPr sz="1350">
          <a:solidFill>
            <a:srgbClr val="13261B"/>
          </a:solidFill>
          <a:latin typeface="DM San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Fernway turns the roof of a grocery store into the farm that supplies it. Everything in this deck is about one roof, then twenty.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lettuce in the store has been on the road for most of a week, and one in seven never sells.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Grocery stores sit on the flattest, sunniest, most structurally sound empty land in any city. Watch the roof.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clock: picked at 5:40, on the shelf at 6:18. We lease the roof and pay for the build, so the grocer has no capex.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Fresher greens last longer on the shelf and sell. Shrink on ours is 4%, against 14% for trucked greens.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new roof steps revenue up. Q3 2026 is the first full quarter with all three roofs: $262k, a $1.05M run rate.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roof sells 140,000 lb a year at $2.95, which is $413k. After labour, inputs and the roof lease, $124k is left: a 30% margin and a 26-month payback on a $270k build.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only count roofs we could build on today: flat, over 25,000 square feet, rated for the load. 400 of them is 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Vertical farms skip the field but still truck, and pay for every photon. Cabinets skip the truck but the grocer buys them. We are the only model with both at zero.</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roofs today, nine next year with a second chain, twenty by the end of 2028. Twenty roofs at $413k is an $8.3M run rate.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are raising $6M. $3.5M goes onto roofs, $1.6M into the growing team, $0.9M into the climate-control software that runs every roof.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openxmlformats.org/officeDocument/2006/relationships/image" Target="../media/image11.svg"/><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chart" Target="../charts/char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chart" Target="../charts/char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chart" Target="../charts/char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20.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 Id="rId4" Type="http://schemas.openxmlformats.org/officeDocument/2006/relationships/image" Target="../media/image3.jp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accent1"/>
        </a:solidFill>
        <a:effectLst/>
      </p:bgPr>
    </p:bg>
    <p:spTree>
      <p:nvGrpSpPr>
        <p:cNvPr id="1" name=""/>
        <p:cNvGrpSpPr/>
        <p:nvPr/>
      </p:nvGrpSpPr>
      <p:grpSpPr/>
      <p:pic>
        <p:nvPicPr>
          <p:cNvPr id="2" name="Logo" descr="Fernwa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609600"/>
            <a:ext cx="1771650" cy="381000"/>
          </a:xfrm>
          <a:prstGeom prst="rect">
            <a:avLst/>
          </a:prstGeom>
        </p:spPr>
      </p:pic>
      <p:sp>
        <p:nvSpPr>
          <p:cNvPr id="3" name="Title"/>
          <p:cNvSpPr txBox="1"/>
          <p:nvPr/>
        </p:nvSpPr>
        <p:spPr>
          <a:xfrm>
            <a:off x="609600" y="2247900"/>
            <a:ext cx="6134100" cy="1333500"/>
          </a:xfrm>
          <a:prstGeom prst="rect">
            <a:avLst/>
          </a:prstGeom>
          <a:noFill/>
        </p:spPr>
        <p:txBody>
          <a:bodyPr wrap="square" lIns="0" tIns="31747" rIns="0" bIns="0" anchor="t" rtlCol="0">
            <a:noAutofit/>
          </a:bodyPr>
          <a:lstStyle/>
          <a:p>
            <a:pPr algn="l">
              <a:lnSpc>
                <a:spcPts val="5250"/>
              </a:lnSpc>
              <a:spcBef>
                <a:spcPts val="0"/>
              </a:spcBef>
              <a:spcAft>
                <a:spcPts val="0"/>
              </a:spcAft>
              <a:buNone/>
            </a:pPr>
            <a:r>
              <a:rPr lang="en-US" sz="4800" b="0" i="0" kern="0" dirty="0" spc="-96">
                <a:solidFill>
                  <a:schemeClr val="lt1"/>
                </a:solidFill>
                <a:latin typeface="Fraunces SemiBold"/>
                <a:cs typeface="Fraunces SemiBold"/>
              </a:rPr>
              <a:t>Grown on the roof.</a:t>
            </a:r>
            <a:br>
              <a:rPr lang="en-US" sz="4800" b="0" i="0" kern="0" dirty="0" spc="-96">
                <a:solidFill>
                  <a:schemeClr val="lt1"/>
                </a:solidFill>
                <a:latin typeface="Fraunces SemiBold"/>
                <a:cs typeface="Fraunces SemiBold"/>
              </a:rPr>
            </a:br>
            <a:r>
              <a:rPr lang="en-US" sz="4800" b="0" i="0" kern="0" dirty="0" spc="-96">
                <a:solidFill>
                  <a:schemeClr val="lt1"/>
                </a:solidFill>
                <a:latin typeface="Fraunces SemiBold"/>
                <a:cs typeface="Fraunces SemiBold"/>
              </a:rPr>
              <a:t>Sold one floor down.</a:t>
            </a:r>
            <a:endParaRPr lang="en-US" sz="4800" b="0" i="0" kern="0" dirty="0" spc="-96">
              <a:solidFill>
                <a:schemeClr val="lt1"/>
              </a:solidFill>
              <a:latin typeface="Fraunces SemiBold"/>
              <a:cs typeface="Fraunces SemiBold"/>
            </a:endParaRPr>
          </a:p>
        </p:txBody>
      </p:sp>
      <p:sp>
        <p:nvSpPr>
          <p:cNvPr id="4" name="Subtitle"/>
          <p:cNvSpPr txBox="1"/>
          <p:nvPr/>
        </p:nvSpPr>
        <p:spPr>
          <a:xfrm>
            <a:off x="609600" y="3838575"/>
            <a:ext cx="4755309" cy="733425"/>
          </a:xfrm>
          <a:prstGeom prst="rect">
            <a:avLst/>
          </a:prstGeom>
          <a:noFill/>
        </p:spPr>
        <p:txBody>
          <a:bodyPr wrap="square" lIns="0" tIns="0" rIns="0" bIns="0" anchor="t" rtlCol="0">
            <a:noAutofit/>
          </a:bodyPr>
          <a:lstStyle/>
          <a:p>
            <a:pPr algn="l">
              <a:lnSpc>
                <a:spcPts val="2850"/>
              </a:lnSpc>
              <a:spcBef>
                <a:spcPts val="0"/>
              </a:spcBef>
              <a:spcAft>
                <a:spcPts val="0"/>
              </a:spcAft>
              <a:buNone/>
            </a:pPr>
            <a:r>
              <a:rPr lang="en-US" sz="2100" b="0" i="0" kern="0" dirty="0">
                <a:solidFill>
                  <a:srgbClr val="CFD0C3"/>
                </a:solidFill>
                <a:latin typeface="+mn-lt"/>
                <a:cs typeface="DM Sans"/>
              </a:rPr>
              <a:t>Greenhouses on top of the grocery stores that sell what they grow.</a:t>
            </a:r>
            <a:endParaRPr lang="en-US" sz="2100" b="0" i="0" kern="0" dirty="0">
              <a:solidFill>
                <a:srgbClr val="CFD0C3"/>
              </a:solidFill>
              <a:latin typeface="+mn-lt"/>
              <a:cs typeface="DM Sans"/>
            </a:endParaRPr>
          </a:p>
        </p:txBody>
      </p:sp>
      <p:sp>
        <p:nvSpPr>
          <p:cNvPr id="5" name="TextBox 4"/>
          <p:cNvSpPr txBox="1"/>
          <p:nvPr/>
        </p:nvSpPr>
        <p:spPr>
          <a:xfrm>
            <a:off x="609600" y="6029325"/>
            <a:ext cx="381000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spc="14">
                <a:solidFill>
                  <a:srgbClr val="CFD0C3"/>
                </a:solidFill>
                <a:latin typeface="DM Sans Medium"/>
                <a:cs typeface="DM Sans Medium"/>
              </a:rPr>
              <a:t>Seed round · 2026</a:t>
            </a:r>
            <a:endParaRPr lang="en-US" sz="1350" b="0" i="0" kern="0" dirty="0" spc="14">
              <a:solidFill>
                <a:srgbClr val="CFD0C3"/>
              </a:solidFill>
              <a:latin typeface="DM Sans Medium"/>
              <a:cs typeface="DM Sans Medium"/>
            </a:endParaRPr>
          </a:p>
        </p:txBody>
      </p:sp>
      <p:pic>
        <p:nvPicPr>
          <p:cNvPr id="6" name="Gable photo" descr="Greenhouse interior with rows of lettuce"/>
          <p:cNvPicPr>
            <a:picLocks noChangeAspect="1"/>
          </p:cNvPicPr>
          <p:nvPr/>
        </p:nvPicPr>
        <p:blipFill>
          <a:blip r:embed="rId4"/>
          <a:stretch>
            <a:fillRect/>
          </a:stretch>
        </p:blipFill>
        <p:spPr>
          <a:xfrm>
            <a:off x="7010400" y="914400"/>
            <a:ext cx="4572000" cy="5943600"/>
          </a:xfrm>
          <a:prstGeom prst="rect">
            <a:avLst/>
          </a:prstGeom>
        </p:spPr>
      </p:pic>
      <p:pic>
        <p:nvPicPr>
          <p:cNvPr id="7" name="Gable roof" descr="svg-3b8f07af03664b0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0400" y="914400"/>
            <a:ext cx="4572000" cy="16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pic>
        <p:nvPicPr>
          <p:cNvPr id="2" name="Roofline" descr="svg-9d6cd6a19977e16f.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Supermarket greens travel 1,800 miles;</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one in seven is thrown out unsold</a:t>
            </a:r>
            <a:endParaRPr lang="en-US" sz="3300" b="0" i="0" kern="0" dirty="0" spc="-50">
              <a:solidFill>
                <a:schemeClr val="accent1"/>
              </a:solidFill>
              <a:latin typeface="Fraunces SemiBold"/>
              <a:cs typeface="Fraunces SemiBold"/>
            </a:endParaRPr>
          </a:p>
        </p:txBody>
      </p:sp>
      <p:sp>
        <p:nvSpPr>
          <p:cNvPr id="4" name="Stat 1,800"/>
          <p:cNvSpPr txBox="1"/>
          <p:nvPr/>
        </p:nvSpPr>
        <p:spPr>
          <a:xfrm>
            <a:off x="533400" y="2400300"/>
            <a:ext cx="6096000" cy="1828800"/>
          </a:xfrm>
          <a:prstGeom prst="rect">
            <a:avLst/>
          </a:prstGeom>
          <a:noFill/>
        </p:spPr>
        <p:txBody>
          <a:bodyPr wrap="none" lIns="0" tIns="228600" rIns="0" bIns="0" anchor="t" rtlCol="0">
            <a:noAutofit/>
          </a:bodyPr>
          <a:lstStyle/>
          <a:p>
            <a:pPr algn="l">
              <a:lnSpc>
                <a:spcPts val="14400"/>
              </a:lnSpc>
              <a:spcBef>
                <a:spcPts val="0"/>
              </a:spcBef>
              <a:spcAft>
                <a:spcPts val="0"/>
              </a:spcAft>
              <a:buNone/>
            </a:pPr>
            <a:r>
              <a:rPr lang="en-US" sz="15000" b="0" i="0" kern="0" dirty="0" spc="-450">
                <a:solidFill>
                  <a:schemeClr val="accent1"/>
                </a:solidFill>
                <a:latin typeface="Fraunces SemiBold"/>
                <a:cs typeface="Fraunces SemiBold"/>
              </a:rPr>
              <a:t>1,800</a:t>
            </a:r>
            <a:endParaRPr lang="en-US" sz="15000" b="0" i="0" kern="0" dirty="0" spc="-450">
              <a:solidFill>
                <a:schemeClr val="accent1"/>
              </a:solidFill>
              <a:latin typeface="Fraunces SemiBold"/>
              <a:cs typeface="Fraunces SemiBold"/>
            </a:endParaRPr>
          </a:p>
        </p:txBody>
      </p:sp>
      <p:sp>
        <p:nvSpPr>
          <p:cNvPr id="5" name="TextBox 4"/>
          <p:cNvSpPr txBox="1"/>
          <p:nvPr/>
        </p:nvSpPr>
        <p:spPr>
          <a:xfrm>
            <a:off x="609600" y="4533900"/>
            <a:ext cx="5334000" cy="371475"/>
          </a:xfrm>
          <a:prstGeom prst="rect">
            <a:avLst/>
          </a:prstGeom>
          <a:noFill/>
        </p:spPr>
        <p:txBody>
          <a:bodyPr wrap="none" lIns="0" tIns="0" rIns="0" bIns="0" anchor="t" rtlCol="0">
            <a:noAutofit/>
          </a:bodyPr>
          <a:lstStyle/>
          <a:p>
            <a:pPr algn="l">
              <a:lnSpc>
                <a:spcPts val="2850"/>
              </a:lnSpc>
              <a:spcBef>
                <a:spcPts val="0"/>
              </a:spcBef>
              <a:spcAft>
                <a:spcPts val="0"/>
              </a:spcAft>
              <a:buNone/>
            </a:pPr>
            <a:r>
              <a:rPr lang="en-US" sz="2100" b="0" i="0" kern="0" dirty="0">
                <a:solidFill>
                  <a:schemeClr val="dk1"/>
                </a:solidFill>
                <a:latin typeface="+mn-lt"/>
                <a:cs typeface="DM Sans"/>
              </a:rPr>
              <a:t>miles from field to shelf, on average</a:t>
            </a:r>
            <a:endParaRPr lang="en-US" sz="2100" b="0" i="0" kern="0" dirty="0">
              <a:solidFill>
                <a:schemeClr val="dk1"/>
              </a:solidFill>
              <a:latin typeface="+mn-lt"/>
              <a:cs typeface="DM Sans"/>
            </a:endParaRPr>
          </a:p>
        </p:txBody>
      </p:sp>
      <p:grpSp>
        <p:nvGrpSpPr>
          <p:cNvPr id="6" name="Stat 6 days"/>
          <p:cNvGrpSpPr/>
          <p:nvPr/>
        </p:nvGrpSpPr>
        <p:grpSpPr>
          <a:xfrm>
            <a:off x="7143750" y="2524125"/>
            <a:ext cx="4438650" cy="1104900"/>
            <a:chOff x="7143750" y="2524125"/>
            <a:chExt cx="4438650" cy="1104900"/>
          </a:xfrm>
        </p:grpSpPr>
        <p:sp>
          <p:nvSpPr>
            <p:cNvPr id="7" name="TextBox 6"/>
            <p:cNvSpPr txBox="1"/>
            <p:nvPr/>
          </p:nvSpPr>
          <p:spPr>
            <a:xfrm>
              <a:off x="7143750" y="2524125"/>
              <a:ext cx="4438650" cy="685800"/>
            </a:xfrm>
            <a:prstGeom prst="rect">
              <a:avLst/>
            </a:prstGeom>
            <a:noFill/>
          </p:spPr>
          <p:txBody>
            <a:bodyPr wrap="none" lIns="0" tIns="28575" rIns="0" bIns="0" anchor="t" rtlCol="0">
              <a:noAutofit/>
            </a:bodyPr>
            <a:lstStyle/>
            <a:p>
              <a:pPr algn="l">
                <a:lnSpc>
                  <a:spcPts val="5400"/>
                </a:lnSpc>
                <a:spcBef>
                  <a:spcPts val="0"/>
                </a:spcBef>
                <a:spcAft>
                  <a:spcPts val="0"/>
                </a:spcAft>
                <a:buNone/>
              </a:pPr>
              <a:r>
                <a:rPr lang="en-US" sz="4800" b="0" i="0" kern="0" dirty="0" spc="-144">
                  <a:solidFill>
                    <a:schemeClr val="accent1"/>
                  </a:solidFill>
                  <a:latin typeface="Fraunces SemiBold"/>
                  <a:cs typeface="Fraunces SemiBold"/>
                </a:rPr>
                <a:t>6 days</a:t>
              </a:r>
              <a:endParaRPr lang="en-US" sz="4800" b="0" i="0" kern="0" dirty="0" spc="-144">
                <a:solidFill>
                  <a:schemeClr val="accent1"/>
                </a:solidFill>
                <a:latin typeface="Fraunces SemiBold"/>
                <a:cs typeface="Fraunces SemiBold"/>
              </a:endParaRPr>
            </a:p>
          </p:txBody>
        </p:sp>
        <p:sp>
          <p:nvSpPr>
            <p:cNvPr id="8" name="TextBox 7"/>
            <p:cNvSpPr txBox="1"/>
            <p:nvPr/>
          </p:nvSpPr>
          <p:spPr>
            <a:xfrm>
              <a:off x="7143750" y="3314700"/>
              <a:ext cx="4438650" cy="314325"/>
            </a:xfrm>
            <a:prstGeom prst="rect">
              <a:avLst/>
            </a:prstGeom>
            <a:noFill/>
          </p:spPr>
          <p:txBody>
            <a:bodyPr wrap="none" lIns="0" tIns="0" rIns="0" bIns="0" anchor="t" rtlCol="0">
              <a:noAutofit/>
            </a:bodyPr>
            <a:lstStyle/>
            <a:p>
              <a:pPr algn="l">
                <a:lnSpc>
                  <a:spcPts val="2400"/>
                </a:lnSpc>
                <a:spcBef>
                  <a:spcPts val="0"/>
                </a:spcBef>
                <a:spcAft>
                  <a:spcPts val="0"/>
                </a:spcAft>
                <a:buNone/>
              </a:pPr>
              <a:r>
                <a:rPr lang="en-US" sz="1650" b="0" i="0" kern="0" dirty="0">
                  <a:solidFill>
                    <a:schemeClr val="dk1"/>
                  </a:solidFill>
                  <a:latin typeface="+mn-lt"/>
                  <a:cs typeface="DM Sans"/>
                </a:rPr>
                <a:t>in transit, losing shelf life every hour</a:t>
              </a:r>
              <a:endParaRPr lang="en-US" sz="1650" b="0" i="0" kern="0" dirty="0">
                <a:solidFill>
                  <a:schemeClr val="dk1"/>
                </a:solidFill>
                <a:latin typeface="+mn-lt"/>
                <a:cs typeface="DM Sans"/>
              </a:endParaRPr>
            </a:p>
          </p:txBody>
        </p:sp>
      </p:grpSp>
      <p:sp>
        <p:nvSpPr>
          <p:cNvPr id="9" name="Rectangle 8"/>
          <p:cNvSpPr/>
          <p:nvPr/>
        </p:nvSpPr>
        <p:spPr>
          <a:xfrm>
            <a:off x="7143750" y="3905250"/>
            <a:ext cx="4438650" cy="9525"/>
          </a:xfrm>
          <a:prstGeom prst="rect">
            <a:avLst/>
          </a:prstGeom>
          <a:solidFill>
            <a:srgbClr val="BABEB0"/>
          </a:solidFill>
          <a:ln>
            <a:noFill/>
          </a:ln>
        </p:spPr>
        <p:txBody>
          <a:bodyPr rtlCol="0" anchor="ctr"/>
          <a:lstStyle/>
          <a:p>
            <a:pPr algn="ctr"/>
          </a:p>
        </p:txBody>
      </p:sp>
      <p:grpSp>
        <p:nvGrpSpPr>
          <p:cNvPr id="10" name="Stat 14%"/>
          <p:cNvGrpSpPr/>
          <p:nvPr/>
        </p:nvGrpSpPr>
        <p:grpSpPr>
          <a:xfrm>
            <a:off x="7143750" y="4095750"/>
            <a:ext cx="4438650" cy="1104900"/>
            <a:chOff x="7143750" y="4095750"/>
            <a:chExt cx="4438650" cy="1104900"/>
          </a:xfrm>
        </p:grpSpPr>
        <p:sp>
          <p:nvSpPr>
            <p:cNvPr id="11" name="TextBox 10"/>
            <p:cNvSpPr txBox="1"/>
            <p:nvPr/>
          </p:nvSpPr>
          <p:spPr>
            <a:xfrm>
              <a:off x="7143750" y="4095750"/>
              <a:ext cx="4438650" cy="685800"/>
            </a:xfrm>
            <a:prstGeom prst="rect">
              <a:avLst/>
            </a:prstGeom>
            <a:noFill/>
          </p:spPr>
          <p:txBody>
            <a:bodyPr wrap="none" lIns="0" tIns="28575" rIns="0" bIns="0" anchor="t" rtlCol="0">
              <a:noAutofit/>
            </a:bodyPr>
            <a:lstStyle/>
            <a:p>
              <a:pPr algn="l">
                <a:lnSpc>
                  <a:spcPts val="5400"/>
                </a:lnSpc>
                <a:spcBef>
                  <a:spcPts val="0"/>
                </a:spcBef>
                <a:spcAft>
                  <a:spcPts val="0"/>
                </a:spcAft>
                <a:buNone/>
              </a:pPr>
              <a:r>
                <a:rPr lang="en-US" sz="4800" b="0" i="0" kern="0" dirty="0" spc="-144">
                  <a:solidFill>
                    <a:schemeClr val="accent2"/>
                  </a:solidFill>
                  <a:latin typeface="Fraunces SemiBold"/>
                  <a:cs typeface="Fraunces SemiBold"/>
                </a:rPr>
                <a:t>14%</a:t>
              </a:r>
              <a:endParaRPr lang="en-US" sz="4800" b="0" i="0" kern="0" dirty="0" spc="-144">
                <a:solidFill>
                  <a:schemeClr val="accent2"/>
                </a:solidFill>
                <a:latin typeface="Fraunces SemiBold"/>
                <a:cs typeface="Fraunces SemiBold"/>
              </a:endParaRPr>
            </a:p>
          </p:txBody>
        </p:sp>
        <p:sp>
          <p:nvSpPr>
            <p:cNvPr id="12" name="TextBox 11"/>
            <p:cNvSpPr txBox="1"/>
            <p:nvPr/>
          </p:nvSpPr>
          <p:spPr>
            <a:xfrm>
              <a:off x="7143750" y="4886325"/>
              <a:ext cx="4438650" cy="314325"/>
            </a:xfrm>
            <a:prstGeom prst="rect">
              <a:avLst/>
            </a:prstGeom>
            <a:noFill/>
          </p:spPr>
          <p:txBody>
            <a:bodyPr wrap="none" lIns="0" tIns="0" rIns="0" bIns="0" anchor="t" rtlCol="0">
              <a:noAutofit/>
            </a:bodyPr>
            <a:lstStyle/>
            <a:p>
              <a:pPr algn="l">
                <a:lnSpc>
                  <a:spcPts val="2400"/>
                </a:lnSpc>
                <a:spcBef>
                  <a:spcPts val="0"/>
                </a:spcBef>
                <a:spcAft>
                  <a:spcPts val="0"/>
                </a:spcAft>
                <a:buNone/>
              </a:pPr>
              <a:r>
                <a:rPr lang="en-US" sz="1650" b="0" i="0" kern="0" dirty="0">
                  <a:solidFill>
                    <a:schemeClr val="dk1"/>
                  </a:solidFill>
                  <a:latin typeface="+mn-lt"/>
                  <a:cs typeface="DM Sans"/>
                </a:rPr>
                <a:t>of leafy greens are thrown out unsold</a:t>
              </a:r>
              <a:endParaRPr lang="en-US" sz="1650" b="0" i="0" kern="0" dirty="0">
                <a:solidFill>
                  <a:schemeClr val="dk1"/>
                </a:solidFill>
                <a:latin typeface="+mn-lt"/>
                <a:cs typeface="DM Sans"/>
              </a:endParaRPr>
            </a:p>
          </p:txBody>
        </p:sp>
      </p:grpSp>
      <p:sp>
        <p:nvSpPr>
          <p:cNvPr id="13" name="TextBox 12"/>
          <p:cNvSpPr txBox="1"/>
          <p:nvPr/>
        </p:nvSpPr>
        <p:spPr>
          <a:xfrm>
            <a:off x="609600" y="6286500"/>
            <a:ext cx="57150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49564B"/>
                </a:solidFill>
                <a:latin typeface="+mn-lt"/>
                <a:cs typeface="DM Sans"/>
              </a:rPr>
              <a:t>Illustrative figures for a fictional company.</a:t>
            </a:r>
            <a:endParaRPr lang="en-US" sz="1050" b="0" i="0" kern="0" dirty="0">
              <a:solidFill>
                <a:srgbClr val="49564B"/>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lt2"/>
        </a:solidFill>
        <a:effectLst/>
      </p:bgPr>
    </p:bg>
    <p:spTree>
      <p:nvGrpSpPr>
        <p:cNvPr id="1" name=""/>
        <p:cNvGrpSpPr/>
        <p:nvPr/>
      </p:nvGrpSpPr>
      <p:grpSpPr/>
      <p:sp>
        <p:nvSpPr>
          <p:cNvPr id="2" name="Statement"/>
          <p:cNvSpPr txBox="1"/>
          <p:nvPr/>
        </p:nvSpPr>
        <p:spPr>
          <a:xfrm>
            <a:off x="609600" y="1524000"/>
            <a:ext cx="5943600" cy="2000250"/>
          </a:xfrm>
          <a:prstGeom prst="rect">
            <a:avLst/>
          </a:prstGeom>
          <a:noFill/>
        </p:spPr>
        <p:txBody>
          <a:bodyPr wrap="square" lIns="0" tIns="31747" rIns="0" bIns="0" anchor="t" rtlCol="0">
            <a:noAutofit/>
          </a:bodyPr>
          <a:lstStyle/>
          <a:p>
            <a:pPr algn="l">
              <a:lnSpc>
                <a:spcPts val="5250"/>
              </a:lnSpc>
              <a:spcBef>
                <a:spcPts val="0"/>
              </a:spcBef>
              <a:spcAft>
                <a:spcPts val="0"/>
              </a:spcAft>
              <a:buNone/>
            </a:pPr>
            <a:r>
              <a:rPr lang="en-US" sz="4800" b="0" i="0" kern="0" dirty="0" spc="-96">
                <a:solidFill>
                  <a:schemeClr val="accent1"/>
                </a:solidFill>
                <a:latin typeface="Fraunces SemiBold"/>
                <a:cs typeface="Fraunces SemiBold"/>
              </a:rPr>
              <a:t>The best farmland</a:t>
            </a:r>
            <a:br>
              <a:rPr lang="en-US" sz="4800" b="0" i="0" kern="0" dirty="0" spc="-96">
                <a:solidFill>
                  <a:schemeClr val="accent1"/>
                </a:solidFill>
                <a:latin typeface="Fraunces SemiBold"/>
                <a:cs typeface="Fraunces SemiBold"/>
              </a:rPr>
            </a:br>
            <a:r>
              <a:rPr lang="en-US" sz="4800" b="0" i="0" kern="0" dirty="0" spc="-96">
                <a:solidFill>
                  <a:schemeClr val="accent1"/>
                </a:solidFill>
                <a:latin typeface="Fraunces SemiBold"/>
                <a:cs typeface="Fraunces SemiBold"/>
              </a:rPr>
              <a:t>in town is above</a:t>
            </a:r>
            <a:br>
              <a:rPr lang="en-US" sz="4800" b="0" i="0" kern="0" dirty="0" spc="-96">
                <a:solidFill>
                  <a:schemeClr val="accent1"/>
                </a:solidFill>
                <a:latin typeface="Fraunces SemiBold"/>
                <a:cs typeface="Fraunces SemiBold"/>
              </a:rPr>
            </a:br>
            <a:r>
              <a:rPr lang="en-US" sz="4800" b="0" i="0" kern="0" dirty="0" spc="-96">
                <a:solidFill>
                  <a:schemeClr val="accent1"/>
                </a:solidFill>
                <a:latin typeface="Fraunces SemiBold"/>
                <a:cs typeface="Fraunces SemiBold"/>
              </a:rPr>
              <a:t>the produce aisle</a:t>
            </a:r>
            <a:endParaRPr lang="en-US" sz="4800" b="0" i="0" kern="0" dirty="0" spc="-96">
              <a:solidFill>
                <a:schemeClr val="accent1"/>
              </a:solidFill>
              <a:latin typeface="Fraunces SemiBold"/>
              <a:cs typeface="Fraunces SemiBold"/>
            </a:endParaRPr>
          </a:p>
        </p:txBody>
      </p:sp>
      <p:sp>
        <p:nvSpPr>
          <p:cNvPr id="3" name="TextBox 2"/>
          <p:cNvSpPr txBox="1"/>
          <p:nvPr/>
        </p:nvSpPr>
        <p:spPr>
          <a:xfrm>
            <a:off x="609600" y="3800475"/>
            <a:ext cx="4800600" cy="619125"/>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1650" b="0" i="0" kern="0" dirty="0">
                <a:solidFill>
                  <a:schemeClr val="dk1"/>
                </a:solidFill>
                <a:latin typeface="+mn-lt"/>
                <a:cs typeface="DM Sans"/>
              </a:rPr>
              <a:t>A typical supermarket roof is 40,000 sq ft: flat, sunny, built to carry load, and empty.</a:t>
            </a:r>
            <a:endParaRPr lang="en-US" sz="1650" b="0" i="0" kern="0" dirty="0">
              <a:solidFill>
                <a:schemeClr val="dk1"/>
              </a:solidFill>
              <a:latin typeface="+mn-lt"/>
              <a:cs typeface="DM Sans"/>
            </a:endParaRPr>
          </a:p>
        </p:txBody>
      </p:sp>
      <p:sp>
        <p:nvSpPr>
          <p:cNvPr id="4" name="Dimension line"/>
          <p:cNvSpPr/>
          <p:nvPr/>
        </p:nvSpPr>
        <p:spPr>
          <a:xfrm>
            <a:off x="6248400" y="3143250"/>
            <a:ext cx="5486400" cy="9525"/>
          </a:xfrm>
          <a:prstGeom prst="rect">
            <a:avLst/>
          </a:prstGeom>
          <a:solidFill>
            <a:schemeClr val="accent1"/>
          </a:solidFill>
          <a:ln>
            <a:noFill/>
          </a:ln>
        </p:spPr>
        <p:txBody>
          <a:bodyPr rtlCol="0" anchor="ctr"/>
          <a:lstStyle/>
          <a:p>
            <a:pPr algn="ctr"/>
          </a:p>
        </p:txBody>
      </p:sp>
      <p:sp>
        <p:nvSpPr>
          <p:cNvPr id="5" name="Rectangle 4"/>
          <p:cNvSpPr/>
          <p:nvPr/>
        </p:nvSpPr>
        <p:spPr>
          <a:xfrm>
            <a:off x="6248400" y="3067050"/>
            <a:ext cx="9525" cy="161925"/>
          </a:xfrm>
          <a:prstGeom prst="rect">
            <a:avLst/>
          </a:prstGeom>
          <a:solidFill>
            <a:schemeClr val="accent1"/>
          </a:solidFill>
          <a:ln>
            <a:noFill/>
          </a:ln>
        </p:spPr>
        <p:txBody>
          <a:bodyPr rtlCol="0" anchor="ctr"/>
          <a:lstStyle/>
          <a:p>
            <a:pPr algn="ctr"/>
          </a:p>
        </p:txBody>
      </p:sp>
      <p:sp>
        <p:nvSpPr>
          <p:cNvPr id="6" name="Rectangle 5"/>
          <p:cNvSpPr/>
          <p:nvPr/>
        </p:nvSpPr>
        <p:spPr>
          <a:xfrm>
            <a:off x="11725275" y="3067050"/>
            <a:ext cx="9525" cy="161925"/>
          </a:xfrm>
          <a:prstGeom prst="rect">
            <a:avLst/>
          </a:prstGeom>
          <a:solidFill>
            <a:schemeClr val="accent1"/>
          </a:solidFill>
          <a:ln>
            <a:noFill/>
          </a:ln>
        </p:spPr>
        <p:txBody>
          <a:bodyPr rtlCol="0" anchor="ctr"/>
          <a:lstStyle/>
          <a:p>
            <a:pPr algn="ctr"/>
          </a:p>
        </p:txBody>
      </p:sp>
      <p:sp>
        <p:nvSpPr>
          <p:cNvPr id="7" name="Dimension label"/>
          <p:cNvSpPr/>
          <p:nvPr/>
        </p:nvSpPr>
        <p:spPr>
          <a:xfrm>
            <a:off x="8191500" y="3038475"/>
            <a:ext cx="1600200" cy="247650"/>
          </a:xfrm>
          <a:prstGeom prst="rect">
            <a:avLst/>
          </a:prstGeom>
          <a:solidFill>
            <a:schemeClr val="lt2"/>
          </a:solidFill>
          <a:ln>
            <a:noFill/>
          </a:ln>
        </p:spPr>
        <p:txBody>
          <a:bodyPr wrap="none" lIns="0" tIns="0" rIns="0" bIns="0" anchor="t" rtlCol="0">
            <a:noAutofit/>
          </a:bodyPr>
          <a:lstStyle/>
          <a:p>
            <a:pPr algn="ctr">
              <a:lnSpc>
                <a:spcPts val="1950"/>
              </a:lnSpc>
              <a:spcBef>
                <a:spcPts val="0"/>
              </a:spcBef>
              <a:spcAft>
                <a:spcPts val="0"/>
              </a:spcAft>
              <a:buNone/>
            </a:pPr>
            <a:r>
              <a:rPr lang="en-US" sz="1350" b="0" i="0" kern="0" dirty="0" spc="14">
                <a:solidFill>
                  <a:schemeClr val="accent1"/>
                </a:solidFill>
                <a:latin typeface="DM Sans Medium"/>
                <a:cs typeface="DM Sans Medium"/>
              </a:rPr>
              <a:t>40,000 sq ft</a:t>
            </a:r>
            <a:endParaRPr lang="en-US" sz="1350" b="0" i="0" kern="0" dirty="0" spc="14">
              <a:solidFill>
                <a:schemeClr val="accent1"/>
              </a:solidFill>
              <a:latin typeface="DM Sans Medium"/>
              <a:cs typeface="DM Sans Medium"/>
            </a:endParaRPr>
          </a:p>
        </p:txBody>
      </p:sp>
      <p:sp>
        <p:nvSpPr>
          <p:cNvPr id="8" name="!!roof"/>
          <p:cNvSpPr/>
          <p:nvPr/>
        </p:nvSpPr>
        <p:spPr>
          <a:xfrm>
            <a:off x="6248400" y="3581400"/>
            <a:ext cx="5486400" cy="133350"/>
          </a:xfrm>
          <a:prstGeom prst="rect">
            <a:avLst/>
          </a:prstGeom>
          <a:solidFill>
            <a:schemeClr val="accent2"/>
          </a:solidFill>
          <a:ln>
            <a:noFill/>
          </a:ln>
        </p:spPr>
        <p:txBody>
          <a:bodyPr rtlCol="0" anchor="ctr"/>
          <a:lstStyle/>
          <a:p>
            <a:pPr algn="ctr"/>
          </a:p>
        </p:txBody>
      </p:sp>
      <p:sp>
        <p:nvSpPr>
          <p:cNvPr id="9" name="!!store"/>
          <p:cNvSpPr/>
          <p:nvPr/>
        </p:nvSpPr>
        <p:spPr>
          <a:xfrm>
            <a:off x="6400800" y="3714750"/>
            <a:ext cx="5181600" cy="3143250"/>
          </a:xfrm>
          <a:prstGeom prst="rect">
            <a:avLst/>
          </a:prstGeom>
          <a:solidFill>
            <a:schemeClr val="accent1"/>
          </a:solidFill>
          <a:ln>
            <a:noFill/>
          </a:ln>
        </p:spPr>
        <p:txBody>
          <a:bodyPr rtlCol="0" anchor="ctr"/>
          <a:lstStyle/>
          <a:p>
            <a:pPr algn="ctr"/>
          </a:p>
        </p:txBody>
      </p:sp>
      <p:sp>
        <p:nvSpPr>
          <p:cNvPr id="10" name="!!window"/>
          <p:cNvSpPr/>
          <p:nvPr/>
        </p:nvSpPr>
        <p:spPr>
          <a:xfrm>
            <a:off x="6858000" y="4419600"/>
            <a:ext cx="4267200" cy="990600"/>
          </a:xfrm>
          <a:prstGeom prst="rect">
            <a:avLst/>
          </a:prstGeom>
          <a:solidFill>
            <a:schemeClr val="accent3"/>
          </a:solidFill>
          <a:ln>
            <a:noFill/>
          </a:ln>
        </p:spPr>
        <p:txBody>
          <a:bodyPr rtlCol="0" anchor="ctr"/>
          <a:lstStyle/>
          <a:p>
            <a:pPr algn="ctr"/>
          </a:p>
        </p:txBody>
      </p:sp>
      <p:sp>
        <p:nvSpPr>
          <p:cNvPr id="11" name="!!door"/>
          <p:cNvSpPr/>
          <p:nvPr/>
        </p:nvSpPr>
        <p:spPr>
          <a:xfrm>
            <a:off x="8458200" y="5867400"/>
            <a:ext cx="1066800" cy="990600"/>
          </a:xfrm>
          <a:prstGeom prst="rect">
            <a:avLst/>
          </a:prstGeom>
          <a:solidFill>
            <a:schemeClr val="lt2"/>
          </a:solidFill>
          <a:ln>
            <a:noFill/>
          </a:ln>
        </p:spPr>
        <p:txBody>
          <a:bodyPr rtlCol="0" anchor="ctr"/>
          <a:lstStyle/>
          <a:p>
            <a:pPr algn="ct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pic>
        <p:nvPicPr>
          <p:cNvPr id="2" name="Roofline" descr="svg-81b5f2ca8cf74d89.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We farm the roof, and the harvest</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rides the freight lift down</a:t>
            </a:r>
            <a:endParaRPr lang="en-US" sz="3300" b="0" i="0" kern="0" dirty="0" spc="-50">
              <a:solidFill>
                <a:schemeClr val="accent1"/>
              </a:solidFill>
              <a:latin typeface="Fraunces SemiBold"/>
              <a:cs typeface="Fraunces SemiBold"/>
            </a:endParaRPr>
          </a:p>
        </p:txBody>
      </p:sp>
      <p:pic>
        <p:nvPicPr>
          <p:cNvPr id="4" name="Greenhouse" descr="svg-8735d05c06f2b3f4.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62000" y="3200400"/>
            <a:ext cx="3505200" cy="1600200"/>
          </a:xfrm>
          <a:prstGeom prst="rect">
            <a:avLst/>
          </a:prstGeom>
        </p:spPr>
      </p:pic>
      <p:sp>
        <p:nvSpPr>
          <p:cNvPr id="5" name="!!roof"/>
          <p:cNvSpPr/>
          <p:nvPr/>
        </p:nvSpPr>
        <p:spPr>
          <a:xfrm>
            <a:off x="609600" y="4800600"/>
            <a:ext cx="3810000" cy="95250"/>
          </a:xfrm>
          <a:prstGeom prst="rect">
            <a:avLst/>
          </a:prstGeom>
          <a:solidFill>
            <a:schemeClr val="accent1"/>
          </a:solidFill>
          <a:ln>
            <a:noFill/>
          </a:ln>
        </p:spPr>
        <p:txBody>
          <a:bodyPr rtlCol="0" anchor="ctr"/>
          <a:lstStyle/>
          <a:p>
            <a:pPr algn="ctr"/>
          </a:p>
        </p:txBody>
      </p:sp>
      <p:sp>
        <p:nvSpPr>
          <p:cNvPr id="6" name="!!store"/>
          <p:cNvSpPr/>
          <p:nvPr/>
        </p:nvSpPr>
        <p:spPr>
          <a:xfrm>
            <a:off x="762000" y="4895850"/>
            <a:ext cx="3505200" cy="1962150"/>
          </a:xfrm>
          <a:prstGeom prst="rect">
            <a:avLst/>
          </a:prstGeom>
          <a:solidFill>
            <a:schemeClr val="accent1"/>
          </a:solidFill>
          <a:ln>
            <a:noFill/>
          </a:ln>
        </p:spPr>
        <p:txBody>
          <a:bodyPr rtlCol="0" anchor="ctr"/>
          <a:lstStyle/>
          <a:p>
            <a:pPr algn="ctr"/>
          </a:p>
        </p:txBody>
      </p:sp>
      <p:sp>
        <p:nvSpPr>
          <p:cNvPr id="7" name="!!window"/>
          <p:cNvSpPr/>
          <p:nvPr/>
        </p:nvSpPr>
        <p:spPr>
          <a:xfrm>
            <a:off x="990600" y="5334000"/>
            <a:ext cx="3048000" cy="609600"/>
          </a:xfrm>
          <a:prstGeom prst="rect">
            <a:avLst/>
          </a:prstGeom>
          <a:solidFill>
            <a:schemeClr val="accent3"/>
          </a:solidFill>
          <a:ln>
            <a:noFill/>
          </a:ln>
        </p:spPr>
        <p:txBody>
          <a:bodyPr rtlCol="0" anchor="ctr"/>
          <a:lstStyle/>
          <a:p>
            <a:pPr algn="ctr"/>
          </a:p>
        </p:txBody>
      </p:sp>
      <p:sp>
        <p:nvSpPr>
          <p:cNvPr id="8" name="!!door"/>
          <p:cNvSpPr/>
          <p:nvPr/>
        </p:nvSpPr>
        <p:spPr>
          <a:xfrm>
            <a:off x="2171700" y="6172200"/>
            <a:ext cx="685800" cy="685800"/>
          </a:xfrm>
          <a:prstGeom prst="rect">
            <a:avLst/>
          </a:prstGeom>
          <a:solidFill>
            <a:schemeClr val="lt1"/>
          </a:solidFill>
          <a:ln>
            <a:noFill/>
          </a:ln>
        </p:spPr>
        <p:txBody>
          <a:bodyPr rtlCol="0" anchor="ctr"/>
          <a:lstStyle/>
          <a:p>
            <a:pPr algn="ctr"/>
          </a:p>
        </p:txBody>
      </p:sp>
      <p:sp>
        <p:nvSpPr>
          <p:cNvPr id="9" name="Freight lift"/>
          <p:cNvSpPr/>
          <p:nvPr/>
        </p:nvSpPr>
        <p:spPr>
          <a:xfrm>
            <a:off x="2495550" y="4895850"/>
            <a:ext cx="38100" cy="1276350"/>
          </a:xfrm>
          <a:prstGeom prst="rect">
            <a:avLst/>
          </a:prstGeom>
          <a:solidFill>
            <a:schemeClr val="lt1"/>
          </a:solidFill>
          <a:ln>
            <a:noFill/>
          </a:ln>
        </p:spPr>
        <p:txBody>
          <a:bodyPr rtlCol="0" anchor="ctr"/>
          <a:lstStyle/>
          <a:p>
            <a:pPr algn="ctr"/>
          </a:p>
        </p:txBody>
      </p:sp>
      <p:grpSp>
        <p:nvGrpSpPr>
          <p:cNvPr id="10" name="Step 1"/>
          <p:cNvGrpSpPr/>
          <p:nvPr/>
        </p:nvGrpSpPr>
        <p:grpSpPr>
          <a:xfrm>
            <a:off x="5276850" y="2247900"/>
            <a:ext cx="6305550" cy="676275"/>
            <a:chOff x="5276850" y="2247900"/>
            <a:chExt cx="6305550" cy="676275"/>
          </a:xfrm>
        </p:grpSpPr>
        <p:sp>
          <p:nvSpPr>
            <p:cNvPr id="11" name="TextBox 10"/>
            <p:cNvSpPr txBox="1"/>
            <p:nvPr/>
          </p:nvSpPr>
          <p:spPr>
            <a:xfrm>
              <a:off x="5276850" y="2247900"/>
              <a:ext cx="17145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accent1"/>
                  </a:solidFill>
                  <a:latin typeface="Fraunces SemiBold"/>
                  <a:cs typeface="Fraunces SemiBold"/>
                </a:rPr>
                <a:t>5:40 am</a:t>
              </a:r>
              <a:endParaRPr lang="en-US" sz="2700" b="0" i="0" kern="0" dirty="0" spc="-81">
                <a:solidFill>
                  <a:schemeClr val="accent1"/>
                </a:solidFill>
                <a:latin typeface="Fraunces SemiBold"/>
                <a:cs typeface="Fraunces SemiBold"/>
              </a:endParaRPr>
            </a:p>
          </p:txBody>
        </p:sp>
        <p:sp>
          <p:nvSpPr>
            <p:cNvPr id="12" name="TextBox 11"/>
            <p:cNvSpPr txBox="1"/>
            <p:nvPr/>
          </p:nvSpPr>
          <p:spPr>
            <a:xfrm>
              <a:off x="7143750" y="2343150"/>
              <a:ext cx="4438650" cy="295275"/>
            </a:xfrm>
            <a:prstGeom prst="rect">
              <a:avLst/>
            </a:prstGeom>
            <a:noFill/>
          </p:spPr>
          <p:txBody>
            <a:bodyPr wrap="none" lIns="0" tIns="0" rIns="0" bIns="0" anchor="t" rtlCol="0">
              <a:noAutofit/>
            </a:bodyPr>
            <a:lstStyle/>
            <a:p>
              <a:pPr algn="l">
                <a:lnSpc>
                  <a:spcPts val="2250"/>
                </a:lnSpc>
                <a:spcBef>
                  <a:spcPts val="0"/>
                </a:spcBef>
                <a:spcAft>
                  <a:spcPts val="0"/>
                </a:spcAft>
                <a:buNone/>
              </a:pPr>
              <a:r>
                <a:rPr lang="en-US" sz="1650" b="1" i="0" kern="0" dirty="0">
                  <a:solidFill>
                    <a:schemeClr val="accent1"/>
                  </a:solidFill>
                  <a:latin typeface="+mn-lt"/>
                  <a:cs typeface="DM Sans"/>
                </a:rPr>
                <a:t>Harvest</a:t>
              </a:r>
              <a:endParaRPr lang="en-US" sz="1650" b="1" i="0" kern="0" dirty="0">
                <a:solidFill>
                  <a:schemeClr val="accent1"/>
                </a:solidFill>
                <a:latin typeface="+mn-lt"/>
                <a:cs typeface="DM Sans"/>
              </a:endParaRPr>
            </a:p>
          </p:txBody>
        </p:sp>
        <p:sp>
          <p:nvSpPr>
            <p:cNvPr id="13" name="TextBox 12"/>
            <p:cNvSpPr txBox="1"/>
            <p:nvPr/>
          </p:nvSpPr>
          <p:spPr>
            <a:xfrm>
              <a:off x="7143750" y="2667000"/>
              <a:ext cx="44386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Picked at dawn, roots on</a:t>
              </a:r>
              <a:endParaRPr lang="en-US" sz="1350" b="0" i="0" kern="0" dirty="0">
                <a:solidFill>
                  <a:srgbClr val="49564B"/>
                </a:solidFill>
                <a:latin typeface="+mn-lt"/>
                <a:cs typeface="DM Sans"/>
              </a:endParaRPr>
            </a:p>
          </p:txBody>
        </p:sp>
      </p:grpSp>
      <p:sp>
        <p:nvSpPr>
          <p:cNvPr id="14" name="Rectangle 13"/>
          <p:cNvSpPr/>
          <p:nvPr/>
        </p:nvSpPr>
        <p:spPr>
          <a:xfrm>
            <a:off x="5276850" y="3124200"/>
            <a:ext cx="6305550" cy="9525"/>
          </a:xfrm>
          <a:prstGeom prst="rect">
            <a:avLst/>
          </a:prstGeom>
          <a:solidFill>
            <a:srgbClr val="BABEB0"/>
          </a:solidFill>
          <a:ln>
            <a:noFill/>
          </a:ln>
        </p:spPr>
        <p:txBody>
          <a:bodyPr rtlCol="0" anchor="ctr"/>
          <a:lstStyle/>
          <a:p>
            <a:pPr algn="ctr"/>
          </a:p>
        </p:txBody>
      </p:sp>
      <p:grpSp>
        <p:nvGrpSpPr>
          <p:cNvPr id="15" name="Step 2"/>
          <p:cNvGrpSpPr/>
          <p:nvPr/>
        </p:nvGrpSpPr>
        <p:grpSpPr>
          <a:xfrm>
            <a:off x="5276850" y="3276600"/>
            <a:ext cx="6305550" cy="676275"/>
            <a:chOff x="5276850" y="3276600"/>
            <a:chExt cx="6305550" cy="676275"/>
          </a:xfrm>
        </p:grpSpPr>
        <p:sp>
          <p:nvSpPr>
            <p:cNvPr id="16" name="TextBox 15"/>
            <p:cNvSpPr txBox="1"/>
            <p:nvPr/>
          </p:nvSpPr>
          <p:spPr>
            <a:xfrm>
              <a:off x="5276850" y="3276600"/>
              <a:ext cx="17145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accent1"/>
                  </a:solidFill>
                  <a:latin typeface="Fraunces SemiBold"/>
                  <a:cs typeface="Fraunces SemiBold"/>
                </a:rPr>
                <a:t>6:05</a:t>
              </a:r>
              <a:endParaRPr lang="en-US" sz="2700" b="0" i="0" kern="0" dirty="0" spc="-81">
                <a:solidFill>
                  <a:schemeClr val="accent1"/>
                </a:solidFill>
                <a:latin typeface="Fraunces SemiBold"/>
                <a:cs typeface="Fraunces SemiBold"/>
              </a:endParaRPr>
            </a:p>
          </p:txBody>
        </p:sp>
        <p:sp>
          <p:nvSpPr>
            <p:cNvPr id="17" name="TextBox 16"/>
            <p:cNvSpPr txBox="1"/>
            <p:nvPr/>
          </p:nvSpPr>
          <p:spPr>
            <a:xfrm>
              <a:off x="7143750" y="3371850"/>
              <a:ext cx="4438650" cy="295275"/>
            </a:xfrm>
            <a:prstGeom prst="rect">
              <a:avLst/>
            </a:prstGeom>
            <a:noFill/>
          </p:spPr>
          <p:txBody>
            <a:bodyPr wrap="none" lIns="0" tIns="0" rIns="0" bIns="0" anchor="t" rtlCol="0">
              <a:noAutofit/>
            </a:bodyPr>
            <a:lstStyle/>
            <a:p>
              <a:pPr algn="l">
                <a:lnSpc>
                  <a:spcPts val="2250"/>
                </a:lnSpc>
                <a:spcBef>
                  <a:spcPts val="0"/>
                </a:spcBef>
                <a:spcAft>
                  <a:spcPts val="0"/>
                </a:spcAft>
                <a:buNone/>
              </a:pPr>
              <a:r>
                <a:rPr lang="en-US" sz="1650" b="1" i="0" kern="0" dirty="0">
                  <a:solidFill>
                    <a:schemeClr val="accent1"/>
                  </a:solidFill>
                  <a:latin typeface="+mn-lt"/>
                  <a:cs typeface="DM Sans"/>
                </a:rPr>
                <a:t>Pack</a:t>
              </a:r>
              <a:endParaRPr lang="en-US" sz="1650" b="1" i="0" kern="0" dirty="0">
                <a:solidFill>
                  <a:schemeClr val="accent1"/>
                </a:solidFill>
                <a:latin typeface="+mn-lt"/>
                <a:cs typeface="DM Sans"/>
              </a:endParaRPr>
            </a:p>
          </p:txBody>
        </p:sp>
        <p:sp>
          <p:nvSpPr>
            <p:cNvPr id="18" name="TextBox 17"/>
            <p:cNvSpPr txBox="1"/>
            <p:nvPr/>
          </p:nvSpPr>
          <p:spPr>
            <a:xfrm>
              <a:off x="7143750" y="3695700"/>
              <a:ext cx="44386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Washed and boxed in the rooftop pack room</a:t>
              </a:r>
              <a:endParaRPr lang="en-US" sz="1350" b="0" i="0" kern="0" dirty="0">
                <a:solidFill>
                  <a:srgbClr val="49564B"/>
                </a:solidFill>
                <a:latin typeface="+mn-lt"/>
                <a:cs typeface="DM Sans"/>
              </a:endParaRPr>
            </a:p>
          </p:txBody>
        </p:sp>
      </p:grpSp>
      <p:sp>
        <p:nvSpPr>
          <p:cNvPr id="19" name="Rectangle 18"/>
          <p:cNvSpPr/>
          <p:nvPr/>
        </p:nvSpPr>
        <p:spPr>
          <a:xfrm>
            <a:off x="5276850" y="4152900"/>
            <a:ext cx="6305550" cy="9525"/>
          </a:xfrm>
          <a:prstGeom prst="rect">
            <a:avLst/>
          </a:prstGeom>
          <a:solidFill>
            <a:srgbClr val="BABEB0"/>
          </a:solidFill>
          <a:ln>
            <a:noFill/>
          </a:ln>
        </p:spPr>
        <p:txBody>
          <a:bodyPr rtlCol="0" anchor="ctr"/>
          <a:lstStyle/>
          <a:p>
            <a:pPr algn="ctr"/>
          </a:p>
        </p:txBody>
      </p:sp>
      <p:grpSp>
        <p:nvGrpSpPr>
          <p:cNvPr id="20" name="Step 3"/>
          <p:cNvGrpSpPr/>
          <p:nvPr/>
        </p:nvGrpSpPr>
        <p:grpSpPr>
          <a:xfrm>
            <a:off x="5276850" y="4305300"/>
            <a:ext cx="6305550" cy="676275"/>
            <a:chOff x="5276850" y="4305300"/>
            <a:chExt cx="6305550" cy="676275"/>
          </a:xfrm>
        </p:grpSpPr>
        <p:sp>
          <p:nvSpPr>
            <p:cNvPr id="21" name="TextBox 20"/>
            <p:cNvSpPr txBox="1"/>
            <p:nvPr/>
          </p:nvSpPr>
          <p:spPr>
            <a:xfrm>
              <a:off x="5276850" y="4305300"/>
              <a:ext cx="17145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accent1"/>
                  </a:solidFill>
                  <a:latin typeface="Fraunces SemiBold"/>
                  <a:cs typeface="Fraunces SemiBold"/>
                </a:rPr>
                <a:t>6:12</a:t>
              </a:r>
              <a:endParaRPr lang="en-US" sz="2700" b="0" i="0" kern="0" dirty="0" spc="-81">
                <a:solidFill>
                  <a:schemeClr val="accent1"/>
                </a:solidFill>
                <a:latin typeface="Fraunces SemiBold"/>
                <a:cs typeface="Fraunces SemiBold"/>
              </a:endParaRPr>
            </a:p>
          </p:txBody>
        </p:sp>
        <p:sp>
          <p:nvSpPr>
            <p:cNvPr id="22" name="TextBox 21"/>
            <p:cNvSpPr txBox="1"/>
            <p:nvPr/>
          </p:nvSpPr>
          <p:spPr>
            <a:xfrm>
              <a:off x="7143750" y="4400550"/>
              <a:ext cx="4438650" cy="295275"/>
            </a:xfrm>
            <a:prstGeom prst="rect">
              <a:avLst/>
            </a:prstGeom>
            <a:noFill/>
          </p:spPr>
          <p:txBody>
            <a:bodyPr wrap="none" lIns="0" tIns="0" rIns="0" bIns="0" anchor="t" rtlCol="0">
              <a:noAutofit/>
            </a:bodyPr>
            <a:lstStyle/>
            <a:p>
              <a:pPr algn="l">
                <a:lnSpc>
                  <a:spcPts val="2250"/>
                </a:lnSpc>
                <a:spcBef>
                  <a:spcPts val="0"/>
                </a:spcBef>
                <a:spcAft>
                  <a:spcPts val="0"/>
                </a:spcAft>
                <a:buNone/>
              </a:pPr>
              <a:r>
                <a:rPr lang="en-US" sz="1650" b="1" i="0" kern="0" dirty="0">
                  <a:solidFill>
                    <a:schemeClr val="accent1"/>
                  </a:solidFill>
                  <a:latin typeface="+mn-lt"/>
                  <a:cs typeface="DM Sans"/>
                </a:rPr>
                <a:t>Lift</a:t>
              </a:r>
              <a:endParaRPr lang="en-US" sz="1650" b="1" i="0" kern="0" dirty="0">
                <a:solidFill>
                  <a:schemeClr val="accent1"/>
                </a:solidFill>
                <a:latin typeface="+mn-lt"/>
                <a:cs typeface="DM Sans"/>
              </a:endParaRPr>
            </a:p>
          </p:txBody>
        </p:sp>
        <p:sp>
          <p:nvSpPr>
            <p:cNvPr id="23" name="TextBox 22"/>
            <p:cNvSpPr txBox="1"/>
            <p:nvPr/>
          </p:nvSpPr>
          <p:spPr>
            <a:xfrm>
              <a:off x="7143750" y="4724400"/>
              <a:ext cx="44386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Down the store’s own freight lift</a:t>
              </a:r>
              <a:endParaRPr lang="en-US" sz="1350" b="0" i="0" kern="0" dirty="0">
                <a:solidFill>
                  <a:srgbClr val="49564B"/>
                </a:solidFill>
                <a:latin typeface="+mn-lt"/>
                <a:cs typeface="DM Sans"/>
              </a:endParaRPr>
            </a:p>
          </p:txBody>
        </p:sp>
      </p:grpSp>
      <p:sp>
        <p:nvSpPr>
          <p:cNvPr id="24" name="Rectangle 23"/>
          <p:cNvSpPr/>
          <p:nvPr/>
        </p:nvSpPr>
        <p:spPr>
          <a:xfrm>
            <a:off x="5276850" y="5181600"/>
            <a:ext cx="6305550" cy="9525"/>
          </a:xfrm>
          <a:prstGeom prst="rect">
            <a:avLst/>
          </a:prstGeom>
          <a:solidFill>
            <a:srgbClr val="BABEB0"/>
          </a:solidFill>
          <a:ln>
            <a:noFill/>
          </a:ln>
        </p:spPr>
        <p:txBody>
          <a:bodyPr rtlCol="0" anchor="ctr"/>
          <a:lstStyle/>
          <a:p>
            <a:pPr algn="ctr"/>
          </a:p>
        </p:txBody>
      </p:sp>
      <p:grpSp>
        <p:nvGrpSpPr>
          <p:cNvPr id="25" name="Step 4"/>
          <p:cNvGrpSpPr/>
          <p:nvPr/>
        </p:nvGrpSpPr>
        <p:grpSpPr>
          <a:xfrm>
            <a:off x="5276850" y="5334000"/>
            <a:ext cx="6305550" cy="676275"/>
            <a:chOff x="5276850" y="5334000"/>
            <a:chExt cx="6305550" cy="676275"/>
          </a:xfrm>
        </p:grpSpPr>
        <p:sp>
          <p:nvSpPr>
            <p:cNvPr id="26" name="TextBox 25"/>
            <p:cNvSpPr txBox="1"/>
            <p:nvPr/>
          </p:nvSpPr>
          <p:spPr>
            <a:xfrm>
              <a:off x="5276850" y="5334000"/>
              <a:ext cx="17145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accent2"/>
                  </a:solidFill>
                  <a:latin typeface="Fraunces SemiBold"/>
                  <a:cs typeface="Fraunces SemiBold"/>
                </a:rPr>
                <a:t>6:18</a:t>
              </a:r>
              <a:endParaRPr lang="en-US" sz="2700" b="0" i="0" kern="0" dirty="0" spc="-81">
                <a:solidFill>
                  <a:schemeClr val="accent2"/>
                </a:solidFill>
                <a:latin typeface="Fraunces SemiBold"/>
                <a:cs typeface="Fraunces SemiBold"/>
              </a:endParaRPr>
            </a:p>
          </p:txBody>
        </p:sp>
        <p:sp>
          <p:nvSpPr>
            <p:cNvPr id="27" name="TextBox 26"/>
            <p:cNvSpPr txBox="1"/>
            <p:nvPr/>
          </p:nvSpPr>
          <p:spPr>
            <a:xfrm>
              <a:off x="7143750" y="5429250"/>
              <a:ext cx="4438650" cy="295275"/>
            </a:xfrm>
            <a:prstGeom prst="rect">
              <a:avLst/>
            </a:prstGeom>
            <a:noFill/>
          </p:spPr>
          <p:txBody>
            <a:bodyPr wrap="none" lIns="0" tIns="0" rIns="0" bIns="0" anchor="t" rtlCol="0">
              <a:noAutofit/>
            </a:bodyPr>
            <a:lstStyle/>
            <a:p>
              <a:pPr algn="l">
                <a:lnSpc>
                  <a:spcPts val="2250"/>
                </a:lnSpc>
                <a:spcBef>
                  <a:spcPts val="0"/>
                </a:spcBef>
                <a:spcAft>
                  <a:spcPts val="0"/>
                </a:spcAft>
                <a:buNone/>
              </a:pPr>
              <a:r>
                <a:rPr lang="en-US" sz="1650" b="1" i="0" kern="0" dirty="0">
                  <a:solidFill>
                    <a:schemeClr val="accent1"/>
                  </a:solidFill>
                  <a:latin typeface="+mn-lt"/>
                  <a:cs typeface="DM Sans"/>
                </a:rPr>
                <a:t>Shelf</a:t>
              </a:r>
              <a:endParaRPr lang="en-US" sz="1650" b="1" i="0" kern="0" dirty="0">
                <a:solidFill>
                  <a:schemeClr val="accent1"/>
                </a:solidFill>
                <a:latin typeface="+mn-lt"/>
                <a:cs typeface="DM Sans"/>
              </a:endParaRPr>
            </a:p>
          </p:txBody>
        </p:sp>
        <p:sp>
          <p:nvSpPr>
            <p:cNvPr id="28" name="TextBox 27"/>
            <p:cNvSpPr txBox="1"/>
            <p:nvPr/>
          </p:nvSpPr>
          <p:spPr>
            <a:xfrm>
              <a:off x="7143750" y="5753100"/>
              <a:ext cx="44386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On display, 38 minutes after picking</a:t>
              </a:r>
              <a:endParaRPr lang="en-US" sz="1350" b="0" i="0" kern="0" dirty="0">
                <a:solidFill>
                  <a:srgbClr val="49564B"/>
                </a:solidFill>
                <a:latin typeface="+mn-lt"/>
                <a:cs typeface="DM Sans"/>
              </a:endParaRPr>
            </a:p>
          </p:txBody>
        </p:sp>
      </p:grpSp>
      <p:sp>
        <p:nvSpPr>
          <p:cNvPr id="29" name="TextBox 28"/>
          <p:cNvSpPr txBox="1"/>
          <p:nvPr/>
        </p:nvSpPr>
        <p:spPr>
          <a:xfrm>
            <a:off x="5276850" y="6315075"/>
            <a:ext cx="63055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chemeClr val="accent1"/>
                </a:solidFill>
                <a:latin typeface="+mn-lt"/>
                <a:cs typeface="DM Sans"/>
              </a:rPr>
              <a:t>We lease the roof and fund the build. The grocer pays nothing.</a:t>
            </a:r>
            <a:endParaRPr lang="en-US" sz="1350" b="0" i="0" kern="0" dirty="0">
              <a:solidFill>
                <a:schemeClr val="accent1"/>
              </a:solidFill>
              <a:latin typeface="+mn-lt"/>
              <a:cs typeface="DM Sans"/>
            </a:endParaRP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20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par>
                          <p:cTn id="8" fill="hold">
                            <p:stCondLst>
                              <p:cond delay="700"/>
                            </p:stCondLst>
                            <p:childTnLst>
                              <p:par>
                                <p:cTn id="9" presetID="10"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500"/>
                                        <p:tgtEl>
                                          <p:spTgt spid="15"/>
                                        </p:tgtEl>
                                      </p:cBhvr>
                                    </p:animEffect>
                                  </p:childTnLst>
                                </p:cTn>
                              </p:par>
                            </p:childTnLst>
                          </p:cTn>
                        </p:par>
                        <p:par>
                          <p:cTn id="12" fill="hold">
                            <p:stCondLst>
                              <p:cond delay="1200"/>
                            </p:stCondLst>
                            <p:childTnLst>
                              <p:par>
                                <p:cTn id="13" presetID="10" presetClass="entr" presetSubtype="0"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childTnLst>
                          </p:cTn>
                        </p:par>
                        <p:par>
                          <p:cTn id="16" fill="hold">
                            <p:stCondLst>
                              <p:cond delay="1700"/>
                            </p:stCondLst>
                            <p:childTnLst>
                              <p:par>
                                <p:cTn id="17" presetID="10"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chemeClr val="accent1"/>
        </a:solidFill>
        <a:effectLst/>
      </p:bgPr>
    </p:bg>
    <p:spTree>
      <p:nvGrpSpPr>
        <p:cNvPr id="1" name=""/>
        <p:cNvGrpSpPr/>
        <p:nvPr/>
      </p:nvGrpSpPr>
      <p:grpSpPr/>
      <p:pic>
        <p:nvPicPr>
          <p:cNvPr id="2" name="Greenhouse photo" descr="Rows of lettuce growing in a greenhouse"/>
          <p:cNvPicPr>
            <a:picLocks noChangeAspect="1"/>
          </p:cNvPicPr>
          <p:nvPr/>
        </p:nvPicPr>
        <p:blipFill>
          <a:blip r:embed="rId2"/>
          <a:stretch>
            <a:fillRect/>
          </a:stretch>
        </p:blipFill>
        <p:spPr>
          <a:xfrm>
            <a:off x="0" y="0"/>
            <a:ext cx="12192000" cy="6858000"/>
          </a:xfrm>
          <a:prstGeom prst="rect">
            <a:avLst/>
          </a:prstGeom>
        </p:spPr>
      </p:pic>
      <p:sp>
        <p:nvSpPr>
          <p:cNvPr id="3" name="Scrim"/>
          <p:cNvSpPr/>
          <p:nvPr/>
        </p:nvSpPr>
        <p:spPr>
          <a:xfrm>
            <a:off x="0" y="0"/>
            <a:ext cx="12192000" cy="6858000"/>
          </a:xfrm>
          <a:prstGeom prst="rect">
            <a:avLst/>
          </a:prstGeom>
          <a:gradFill rotWithShape="1">
            <a:gsLst>
              <a:gs pos="0">
                <a:schemeClr val="dk1">
                  <a:alpha val="94000"/>
                </a:schemeClr>
              </a:gs>
              <a:gs pos="36000">
                <a:schemeClr val="dk1">
                  <a:alpha val="86000"/>
                </a:schemeClr>
              </a:gs>
              <a:gs pos="70000">
                <a:srgbClr val="000000">
                  <a:alpha val="0"/>
                </a:srgbClr>
              </a:gs>
            </a:gsLst>
            <a:lin ang="0" scaled="0"/>
          </a:gradFill>
          <a:ln>
            <a:noFill/>
          </a:ln>
        </p:spPr>
        <p:txBody>
          <a:bodyPr rtlCol="0" anchor="ctr"/>
          <a:lstStyle/>
          <a:p>
            <a:pPr algn="ctr"/>
          </a:p>
        </p:txBody>
      </p:sp>
      <p:sp>
        <p:nvSpPr>
          <p:cNvPr id="4" name="Stat 38"/>
          <p:cNvSpPr txBox="1"/>
          <p:nvPr/>
        </p:nvSpPr>
        <p:spPr>
          <a:xfrm>
            <a:off x="495300" y="838200"/>
            <a:ext cx="4191000" cy="2286000"/>
          </a:xfrm>
          <a:prstGeom prst="rect">
            <a:avLst/>
          </a:prstGeom>
          <a:noFill/>
        </p:spPr>
        <p:txBody>
          <a:bodyPr wrap="none" lIns="0" tIns="304800" rIns="0" bIns="0" anchor="t" rtlCol="0">
            <a:noAutofit/>
          </a:bodyPr>
          <a:lstStyle/>
          <a:p>
            <a:pPr algn="l">
              <a:lnSpc>
                <a:spcPts val="18000"/>
              </a:lnSpc>
              <a:spcBef>
                <a:spcPts val="0"/>
              </a:spcBef>
              <a:spcAft>
                <a:spcPts val="0"/>
              </a:spcAft>
              <a:buNone/>
            </a:pPr>
            <a:r>
              <a:rPr lang="en-US" sz="19200" b="0" i="0" kern="0" dirty="0" spc="-576">
                <a:solidFill>
                  <a:schemeClr val="lt1"/>
                </a:solidFill>
                <a:latin typeface="Fraunces SemiBold"/>
                <a:cs typeface="Fraunces SemiBold"/>
              </a:rPr>
              <a:t>38</a:t>
            </a:r>
            <a:endParaRPr lang="en-US" sz="19200" b="0" i="0" kern="0" dirty="0" spc="-576">
              <a:solidFill>
                <a:schemeClr val="lt1"/>
              </a:solidFill>
              <a:latin typeface="Fraunces SemiBold"/>
              <a:cs typeface="Fraunces SemiBold"/>
            </a:endParaRPr>
          </a:p>
        </p:txBody>
      </p:sp>
      <p:sp>
        <p:nvSpPr>
          <p:cNvPr id="5" name="Headline"/>
          <p:cNvSpPr txBox="1"/>
          <p:nvPr/>
        </p:nvSpPr>
        <p:spPr>
          <a:xfrm>
            <a:off x="609600" y="3276600"/>
            <a:ext cx="48006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33">
                <a:solidFill>
                  <a:schemeClr val="lt1"/>
                </a:solidFill>
                <a:latin typeface="+mj-lt"/>
                <a:cs typeface="Fraunces"/>
              </a:rPr>
              <a:t>minutes from harvest</a:t>
            </a:r>
            <a:br>
              <a:rPr lang="en-US" sz="3300" b="0" i="0" kern="0" dirty="0" spc="-33">
                <a:solidFill>
                  <a:schemeClr val="lt1"/>
                </a:solidFill>
                <a:latin typeface="+mj-lt"/>
                <a:cs typeface="Fraunces"/>
              </a:rPr>
            </a:br>
            <a:r>
              <a:rPr lang="en-US" sz="3300" b="0" i="0" kern="0" dirty="0" spc="-33">
                <a:solidFill>
                  <a:schemeClr val="lt1"/>
                </a:solidFill>
                <a:latin typeface="+mj-lt"/>
                <a:cs typeface="Fraunces"/>
              </a:rPr>
              <a:t>to the shelf</a:t>
            </a:r>
            <a:endParaRPr lang="en-US" sz="3300" b="0" i="0" kern="0" dirty="0" spc="-33">
              <a:solidFill>
                <a:schemeClr val="lt1"/>
              </a:solidFill>
              <a:latin typeface="+mj-lt"/>
              <a:cs typeface="Fraunces"/>
            </a:endParaRPr>
          </a:p>
        </p:txBody>
      </p:sp>
      <p:sp>
        <p:nvSpPr>
          <p:cNvPr id="6" name="Rectangle 5"/>
          <p:cNvSpPr/>
          <p:nvPr/>
        </p:nvSpPr>
        <p:spPr>
          <a:xfrm>
            <a:off x="609600" y="4572000"/>
            <a:ext cx="4191000" cy="9525"/>
          </a:xfrm>
          <a:prstGeom prst="rect">
            <a:avLst/>
          </a:prstGeom>
          <a:solidFill>
            <a:schemeClr val="lt1">
              <a:alpha val="40000"/>
            </a:schemeClr>
          </a:solidFill>
          <a:ln>
            <a:noFill/>
          </a:ln>
        </p:spPr>
        <p:txBody>
          <a:bodyPr rtlCol="0" anchor="ctr"/>
          <a:lstStyle/>
          <a:p>
            <a:pPr algn="ctr"/>
          </a:p>
        </p:txBody>
      </p:sp>
      <p:sp>
        <p:nvSpPr>
          <p:cNvPr id="7" name="TextBox 6"/>
          <p:cNvSpPr txBox="1"/>
          <p:nvPr/>
        </p:nvSpPr>
        <p:spPr>
          <a:xfrm>
            <a:off x="609600" y="4791075"/>
            <a:ext cx="4800600" cy="733425"/>
          </a:xfrm>
          <a:prstGeom prst="rect">
            <a:avLst/>
          </a:prstGeom>
          <a:noFill/>
        </p:spPr>
        <p:txBody>
          <a:bodyPr wrap="square" lIns="0" tIns="0" rIns="0" bIns="0" anchor="t" rtlCol="0">
            <a:noAutofit/>
          </a:bodyPr>
          <a:lstStyle/>
          <a:p>
            <a:pPr algn="l">
              <a:lnSpc>
                <a:spcPts val="2850"/>
              </a:lnSpc>
              <a:spcBef>
                <a:spcPts val="0"/>
              </a:spcBef>
              <a:spcAft>
                <a:spcPts val="0"/>
              </a:spcAft>
              <a:buNone/>
            </a:pPr>
            <a:r>
              <a:rPr lang="en-US" sz="2100" b="0" i="0" kern="0" dirty="0">
                <a:solidFill>
                  <a:schemeClr val="lt1"/>
                </a:solidFill>
                <a:latin typeface="+mn-lt"/>
                <a:cs typeface="DM Sans"/>
              </a:rPr>
              <a:t>Shrink on our greens: 4%,</a:t>
            </a:r>
            <a:br>
              <a:rPr lang="en-US" sz="2100" b="0" i="0" kern="0" dirty="0">
                <a:solidFill>
                  <a:schemeClr val="lt1"/>
                </a:solidFill>
                <a:latin typeface="+mn-lt"/>
                <a:cs typeface="DM Sans"/>
              </a:rPr>
            </a:br>
            <a:r>
              <a:rPr lang="en-US" sz="2100" b="0" i="0" kern="0" dirty="0">
                <a:solidFill>
                  <a:schemeClr val="lt1"/>
                </a:solidFill>
                <a:latin typeface="+mn-lt"/>
                <a:cs typeface="DM Sans"/>
              </a:rPr>
              <a:t>against 14% for trucked greens</a:t>
            </a:r>
            <a:endParaRPr lang="en-US" sz="2100" b="0" i="0" kern="0" dirty="0">
              <a:solidFill>
                <a:schemeClr val="lt1"/>
              </a:solidFill>
              <a:latin typeface="+mn-lt"/>
              <a:cs typeface="DM Sans"/>
            </a:endParaRPr>
          </a:p>
        </p:txBody>
      </p:sp>
      <p:sp>
        <p:nvSpPr>
          <p:cNvPr id="8" name="TextBox 7"/>
          <p:cNvSpPr txBox="1"/>
          <p:nvPr/>
        </p:nvSpPr>
        <p:spPr>
          <a:xfrm>
            <a:off x="609600" y="6324600"/>
            <a:ext cx="66675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CFD0C3"/>
                </a:solidFill>
                <a:latin typeface="+mn-lt"/>
                <a:cs typeface="DM Sans"/>
              </a:rPr>
              <a:t>Median across our three pilot stores. Photo: wei / Unsplash. Figures illustrative.</a:t>
            </a:r>
            <a:endParaRPr lang="en-US" sz="1050" b="0" i="0" kern="0" dirty="0">
              <a:solidFill>
                <a:srgbClr val="CFD0C3"/>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pic>
        <p:nvPicPr>
          <p:cNvPr id="2" name="Roofline" descr="svg-40a0ab7a14bf8d83.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1038225"/>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Revenue grew 6.9</a:t>
            </a:r>
            <a:r>
              <a:rPr lang="en-US" sz="2400" b="0" i="0" kern="0" dirty="0">
                <a:solidFill>
                  <a:schemeClr val="accent1"/>
                </a:solidFill>
                <a:latin typeface="DM Sans Medium"/>
                <a:cs typeface="DM Sans Medium"/>
              </a:rPr>
              <a:t>×</a:t>
            </a:r>
            <a:r>
              <a:rPr lang="en-US" sz="3300" b="0" i="0" kern="0" dirty="0" spc="-50">
                <a:solidFill>
                  <a:schemeClr val="accent1"/>
                </a:solidFill>
                <a:latin typeface="Fraunces SemiBold"/>
                <a:cs typeface="Fraunces SemiBold"/>
              </a:rPr>
              <a:t> in a year</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on three pilot roofs</a:t>
            </a:r>
            <a:endParaRPr lang="en-US" sz="3300" b="0" i="0" kern="0" dirty="0" spc="-50">
              <a:solidFill>
                <a:schemeClr val="accent1"/>
              </a:solidFill>
              <a:latin typeface="Fraunces SemiBold"/>
              <a:cs typeface="Fraunces SemiBold"/>
            </a:endParaRPr>
          </a:p>
        </p:txBody>
      </p:sp>
      <p:graphicFrame>
        <p:nvGraphicFramePr>
          <p:cNvPr id="4" name="Chart – quarterly revenue"/>
          <p:cNvGraphicFramePr>
            <a:graphicFrameLocks noGrp="1"/>
          </p:cNvGraphicFramePr>
          <p:nvPr/>
        </p:nvGraphicFramePr>
        <p:xfrm>
          <a:off x="609600" y="2209800"/>
          <a:ext cx="7620000" cy="4038600"/>
        </p:xfrm>
        <a:graphic>
          <a:graphicData uri="http://schemas.openxmlformats.org/drawingml/2006/chart">
            <c:chart xmlns:c="http://schemas.openxmlformats.org/drawingml/2006/chart" r:id="rId4"/>
          </a:graphicData>
        </a:graphic>
      </p:graphicFrame>
      <p:sp>
        <p:nvSpPr>
          <p:cNvPr id="5" name="TextBox 4"/>
          <p:cNvSpPr txBox="1"/>
          <p:nvPr/>
        </p:nvSpPr>
        <p:spPr>
          <a:xfrm>
            <a:off x="9010650" y="2247900"/>
            <a:ext cx="2571750" cy="1019175"/>
          </a:xfrm>
          <a:prstGeom prst="rect">
            <a:avLst/>
          </a:prstGeom>
          <a:noFill/>
        </p:spPr>
        <p:txBody>
          <a:bodyPr wrap="none" lIns="0" tIns="101603" rIns="0" bIns="0" anchor="t" rtlCol="0">
            <a:noAutofit/>
          </a:bodyPr>
          <a:lstStyle/>
          <a:p>
            <a:pPr algn="l">
              <a:lnSpc>
                <a:spcPts val="7200"/>
              </a:lnSpc>
              <a:spcBef>
                <a:spcPts val="0"/>
              </a:spcBef>
              <a:spcAft>
                <a:spcPts val="0"/>
              </a:spcAft>
              <a:buNone/>
            </a:pPr>
            <a:r>
              <a:rPr lang="en-US" sz="7200" b="0" i="0" kern="0" dirty="0" spc="-216">
                <a:solidFill>
                  <a:schemeClr val="accent2"/>
                </a:solidFill>
                <a:latin typeface="Fraunces SemiBold"/>
                <a:cs typeface="Fraunces SemiBold"/>
              </a:rPr>
              <a:t>6.9</a:t>
            </a:r>
            <a:r>
              <a:rPr lang="en-US" sz="5400" b="0" i="0" kern="0" dirty="0">
                <a:solidFill>
                  <a:schemeClr val="accent2"/>
                </a:solidFill>
                <a:latin typeface="DM Sans Medium"/>
                <a:cs typeface="DM Sans Medium"/>
              </a:rPr>
              <a:t>×</a:t>
            </a:r>
            <a:endParaRPr lang="en-US" sz="5400" b="0" i="0" kern="0" dirty="0">
              <a:solidFill>
                <a:schemeClr val="accent2"/>
              </a:solidFill>
              <a:latin typeface="DM Sans Medium"/>
              <a:cs typeface="DM Sans Medium"/>
            </a:endParaRPr>
          </a:p>
        </p:txBody>
      </p:sp>
      <p:sp>
        <p:nvSpPr>
          <p:cNvPr id="6" name="TextBox 5"/>
          <p:cNvSpPr txBox="1"/>
          <p:nvPr/>
        </p:nvSpPr>
        <p:spPr>
          <a:xfrm>
            <a:off x="9010650" y="3267075"/>
            <a:ext cx="278430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growth from Q3 2025</a:t>
            </a:r>
            <a:br>
              <a:rPr lang="en-US" sz="1350" b="0" i="0" kern="0" dirty="0">
                <a:solidFill>
                  <a:srgbClr val="49564B"/>
                </a:solidFill>
                <a:latin typeface="+mn-lt"/>
                <a:cs typeface="DM Sans"/>
              </a:rPr>
            </a:br>
            <a:r>
              <a:rPr lang="en-US" sz="1350" b="0" i="0" kern="0" dirty="0">
                <a:solidFill>
                  <a:srgbClr val="49564B"/>
                </a:solidFill>
                <a:latin typeface="+mn-lt"/>
                <a:cs typeface="DM Sans"/>
              </a:rPr>
              <a:t>to Q3 2026</a:t>
            </a:r>
            <a:endParaRPr lang="en-US" sz="1350" b="0" i="0" kern="0" dirty="0">
              <a:solidFill>
                <a:srgbClr val="49564B"/>
              </a:solidFill>
              <a:latin typeface="+mn-lt"/>
              <a:cs typeface="DM Sans"/>
            </a:endParaRPr>
          </a:p>
        </p:txBody>
      </p:sp>
      <p:sp>
        <p:nvSpPr>
          <p:cNvPr id="7" name="Rectangle 6"/>
          <p:cNvSpPr/>
          <p:nvPr/>
        </p:nvSpPr>
        <p:spPr>
          <a:xfrm>
            <a:off x="9010650" y="4057650"/>
            <a:ext cx="2571750" cy="9525"/>
          </a:xfrm>
          <a:prstGeom prst="rect">
            <a:avLst/>
          </a:prstGeom>
          <a:solidFill>
            <a:srgbClr val="BABEB0"/>
          </a:solidFill>
          <a:ln>
            <a:noFill/>
          </a:ln>
        </p:spPr>
        <p:txBody>
          <a:bodyPr rtlCol="0" anchor="ctr"/>
          <a:lstStyle/>
          <a:p>
            <a:pPr algn="ctr"/>
          </a:p>
        </p:txBody>
      </p:sp>
      <p:sp>
        <p:nvSpPr>
          <p:cNvPr id="8" name="TextBox 7"/>
          <p:cNvSpPr txBox="1"/>
          <p:nvPr/>
        </p:nvSpPr>
        <p:spPr>
          <a:xfrm>
            <a:off x="9010650" y="4305300"/>
            <a:ext cx="2571750" cy="495300"/>
          </a:xfrm>
          <a:prstGeom prst="rect">
            <a:avLst/>
          </a:prstGeom>
          <a:noFill/>
        </p:spPr>
        <p:txBody>
          <a:bodyPr wrap="none" lIns="0" tIns="9525" rIns="0" bIns="0" anchor="t" rtlCol="0">
            <a:noAutofit/>
          </a:bodyPr>
          <a:lstStyle/>
          <a:p>
            <a:pPr algn="l">
              <a:lnSpc>
                <a:spcPts val="3900"/>
              </a:lnSpc>
              <a:spcBef>
                <a:spcPts val="0"/>
              </a:spcBef>
              <a:spcAft>
                <a:spcPts val="0"/>
              </a:spcAft>
              <a:buNone/>
            </a:pPr>
            <a:r>
              <a:rPr lang="en-US" sz="3300" b="0" i="0" kern="0" dirty="0" spc="-99">
                <a:solidFill>
                  <a:schemeClr val="accent1"/>
                </a:solidFill>
                <a:latin typeface="Fraunces SemiBold"/>
                <a:cs typeface="Fraunces SemiBold"/>
              </a:rPr>
              <a:t>$1.05M</a:t>
            </a:r>
            <a:endParaRPr lang="en-US" sz="3300" b="0" i="0" kern="0" dirty="0" spc="-99">
              <a:solidFill>
                <a:schemeClr val="accent1"/>
              </a:solidFill>
              <a:latin typeface="Fraunces SemiBold"/>
              <a:cs typeface="Fraunces SemiBold"/>
            </a:endParaRPr>
          </a:p>
        </p:txBody>
      </p:sp>
      <p:sp>
        <p:nvSpPr>
          <p:cNvPr id="9" name="TextBox 8"/>
          <p:cNvSpPr txBox="1"/>
          <p:nvPr/>
        </p:nvSpPr>
        <p:spPr>
          <a:xfrm>
            <a:off x="9010650" y="4867275"/>
            <a:ext cx="256232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annual run rate. Roofs 2 and 3 went live in Q1 and Q2 2026.</a:t>
            </a:r>
            <a:endParaRPr lang="en-US" sz="1350" b="0" i="0" kern="0" dirty="0">
              <a:solidFill>
                <a:srgbClr val="49564B"/>
              </a:solidFill>
              <a:latin typeface="+mn-lt"/>
              <a:cs typeface="DM Sans"/>
            </a:endParaRPr>
          </a:p>
        </p:txBody>
      </p:sp>
      <p:sp>
        <p:nvSpPr>
          <p:cNvPr id="10" name="TextBox 9"/>
          <p:cNvSpPr txBox="1"/>
          <p:nvPr/>
        </p:nvSpPr>
        <p:spPr>
          <a:xfrm>
            <a:off x="9010650" y="6286500"/>
            <a:ext cx="257175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49564B"/>
                </a:solidFill>
                <a:latin typeface="+mn-lt"/>
                <a:cs typeface="DM Sans"/>
              </a:rPr>
              <a:t>Fernway finance, illustrative.</a:t>
            </a:r>
            <a:endParaRPr lang="en-US" sz="1050" b="0" i="0" kern="0" dirty="0">
              <a:solidFill>
                <a:srgbClr val="49564B"/>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pic>
        <p:nvPicPr>
          <p:cNvPr id="2" name="Roofline" descr="svg-4217227d4d1b782f.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Each roof earns $124k a year</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and pays back in 26 months</a:t>
            </a:r>
            <a:endParaRPr lang="en-US" sz="3300" b="0" i="0" kern="0" dirty="0" spc="-50">
              <a:solidFill>
                <a:schemeClr val="accent1"/>
              </a:solidFill>
              <a:latin typeface="Fraunces SemiBold"/>
              <a:cs typeface="Fraunces SemiBold"/>
            </a:endParaRPr>
          </a:p>
        </p:txBody>
      </p:sp>
      <p:graphicFrame>
        <p:nvGraphicFramePr>
          <p:cNvPr id="4" name="Chart – per-roof P&amp;L"/>
          <p:cNvGraphicFramePr>
            <a:graphicFrameLocks noGrp="1"/>
          </p:cNvGraphicFramePr>
          <p:nvPr/>
        </p:nvGraphicFramePr>
        <p:xfrm>
          <a:off x="4191000" y="2247900"/>
          <a:ext cx="7391400" cy="3505200"/>
        </p:xfrm>
        <a:graphic>
          <a:graphicData uri="http://schemas.openxmlformats.org/drawingml/2006/chart">
            <c:chart xmlns:c="http://schemas.openxmlformats.org/drawingml/2006/chart" r:id="rId4"/>
          </a:graphicData>
        </a:graphic>
      </p:graphicFrame>
      <p:sp>
        <p:nvSpPr>
          <p:cNvPr id="5" name="TextBox 4"/>
          <p:cNvSpPr txBox="1"/>
          <p:nvPr/>
        </p:nvSpPr>
        <p:spPr>
          <a:xfrm>
            <a:off x="609600" y="6286500"/>
            <a:ext cx="85725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49564B"/>
                </a:solidFill>
                <a:latin typeface="+mn-lt"/>
                <a:cs typeface="DM Sans"/>
              </a:rPr>
              <a:t>Per roof per year: a 30% contribution margin before overhead. Fernway per-roof model, illustrative.</a:t>
            </a:r>
            <a:endParaRPr lang="en-US" sz="1050" b="0" i="0" kern="0" dirty="0">
              <a:solidFill>
                <a:srgbClr val="49564B"/>
              </a:solidFill>
              <a:latin typeface="+mn-lt"/>
              <a:cs typeface="DM Sans"/>
            </a:endParaRPr>
          </a:p>
        </p:txBody>
      </p:sp>
      <p:sp>
        <p:nvSpPr>
          <p:cNvPr id="6" name="Rectangle 5"/>
          <p:cNvSpPr/>
          <p:nvPr/>
        </p:nvSpPr>
        <p:spPr>
          <a:xfrm>
            <a:off x="3733800" y="2362200"/>
            <a:ext cx="9525" cy="3581400"/>
          </a:xfrm>
          <a:prstGeom prst="rect">
            <a:avLst/>
          </a:prstGeom>
          <a:solidFill>
            <a:srgbClr val="BABEB0"/>
          </a:solidFill>
          <a:ln>
            <a:noFill/>
          </a:ln>
        </p:spPr>
        <p:txBody>
          <a:bodyPr rtlCol="0" anchor="ctr"/>
          <a:lstStyle/>
          <a:p>
            <a:pPr algn="ctr"/>
          </a:p>
        </p:txBody>
      </p:sp>
      <p:sp>
        <p:nvSpPr>
          <p:cNvPr id="7" name="Stat 26"/>
          <p:cNvSpPr txBox="1"/>
          <p:nvPr/>
        </p:nvSpPr>
        <p:spPr>
          <a:xfrm>
            <a:off x="533400" y="2362200"/>
            <a:ext cx="2857500" cy="1752600"/>
          </a:xfrm>
          <a:prstGeom prst="rect">
            <a:avLst/>
          </a:prstGeom>
          <a:noFill/>
        </p:spPr>
        <p:txBody>
          <a:bodyPr wrap="none" lIns="0" tIns="247650" rIns="0" bIns="0" anchor="t" rtlCol="0">
            <a:noAutofit/>
          </a:bodyPr>
          <a:lstStyle/>
          <a:p>
            <a:pPr algn="l">
              <a:lnSpc>
                <a:spcPts val="13800"/>
              </a:lnSpc>
              <a:spcBef>
                <a:spcPts val="0"/>
              </a:spcBef>
              <a:spcAft>
                <a:spcPts val="0"/>
              </a:spcAft>
              <a:buNone/>
            </a:pPr>
            <a:r>
              <a:rPr lang="en-US" sz="15000" b="0" i="0" kern="0" dirty="0" spc="-450">
                <a:solidFill>
                  <a:schemeClr val="accent1"/>
                </a:solidFill>
                <a:latin typeface="Fraunces SemiBold"/>
                <a:cs typeface="Fraunces SemiBold"/>
              </a:rPr>
              <a:t>26</a:t>
            </a:r>
            <a:endParaRPr lang="en-US" sz="15000" b="0" i="0" kern="0" dirty="0" spc="-450">
              <a:solidFill>
                <a:schemeClr val="accent1"/>
              </a:solidFill>
              <a:latin typeface="Fraunces SemiBold"/>
              <a:cs typeface="Fraunces SemiBold"/>
            </a:endParaRPr>
          </a:p>
        </p:txBody>
      </p:sp>
      <p:sp>
        <p:nvSpPr>
          <p:cNvPr id="8" name="TextBox 7"/>
          <p:cNvSpPr txBox="1"/>
          <p:nvPr/>
        </p:nvSpPr>
        <p:spPr>
          <a:xfrm>
            <a:off x="609600" y="4257675"/>
            <a:ext cx="2438400" cy="619125"/>
          </a:xfrm>
          <a:prstGeom prst="rect">
            <a:avLst/>
          </a:prstGeom>
          <a:noFill/>
        </p:spPr>
        <p:txBody>
          <a:bodyPr wrap="square" lIns="0" tIns="0" rIns="0" bIns="0" anchor="t" rtlCol="0">
            <a:noAutofit/>
          </a:bodyPr>
          <a:lstStyle/>
          <a:p>
            <a:pPr algn="l">
              <a:lnSpc>
                <a:spcPts val="2400"/>
              </a:lnSpc>
              <a:spcBef>
                <a:spcPts val="0"/>
              </a:spcBef>
              <a:spcAft>
                <a:spcPts val="0"/>
              </a:spcAft>
              <a:buNone/>
            </a:pPr>
            <a:r>
              <a:rPr lang="en-US" sz="1650" b="0" i="0" kern="0" dirty="0">
                <a:solidFill>
                  <a:schemeClr val="dk1"/>
                </a:solidFill>
                <a:latin typeface="+mn-lt"/>
                <a:cs typeface="DM Sans"/>
              </a:rPr>
              <a:t>months to pay back a $270k roof build</a:t>
            </a:r>
            <a:endParaRPr lang="en-US" sz="1650" b="0" i="0" kern="0" dirty="0">
              <a:solidFill>
                <a:schemeClr val="dk1"/>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bg>
      <p:bgPr>
        <a:solidFill>
          <a:schemeClr val="lt2"/>
        </a:solidFill>
        <a:effectLst/>
      </p:bgPr>
    </p:bg>
    <p:spTree>
      <p:nvGrpSpPr>
        <p:cNvPr id="1" name=""/>
        <p:cNvGrpSpPr/>
        <p:nvPr/>
      </p:nvGrpSpPr>
      <p:grpSpPr/>
      <p:pic>
        <p:nvPicPr>
          <p:cNvPr id="2" name="Roofline" descr="svg-781070e8f5b27d5a.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9,400 suitable roofs make a $3.9B</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market in the top 50 metros</a:t>
            </a:r>
            <a:endParaRPr lang="en-US" sz="3300" b="0" i="0" kern="0" dirty="0" spc="-50">
              <a:solidFill>
                <a:schemeClr val="accent1"/>
              </a:solidFill>
              <a:latin typeface="Fraunces SemiBold"/>
              <a:cs typeface="Fraunces SemiBold"/>
            </a:endParaRPr>
          </a:p>
        </p:txBody>
      </p:sp>
      <p:graphicFrame>
        <p:nvGraphicFramePr>
          <p:cNvPr id="4" name="Chart – market size"/>
          <p:cNvGraphicFramePr>
            <a:graphicFrameLocks noGrp="1"/>
          </p:cNvGraphicFramePr>
          <p:nvPr/>
        </p:nvGraphicFramePr>
        <p:xfrm>
          <a:off x="609600" y="2247900"/>
          <a:ext cx="7239000" cy="3733800"/>
        </p:xfrm>
        <a:graphic>
          <a:graphicData uri="http://schemas.openxmlformats.org/drawingml/2006/chart">
            <c:chart xmlns:c="http://schemas.openxmlformats.org/drawingml/2006/chart" r:id="rId4"/>
          </a:graphicData>
        </a:graphic>
      </p:graphicFrame>
      <p:sp>
        <p:nvSpPr>
          <p:cNvPr id="5" name="TextBox 4"/>
          <p:cNvSpPr txBox="1"/>
          <p:nvPr/>
        </p:nvSpPr>
        <p:spPr>
          <a:xfrm>
            <a:off x="8077200" y="2390775"/>
            <a:ext cx="350520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1" i="0" kern="0" dirty="0" spc="14">
                <a:solidFill>
                  <a:schemeClr val="accent1"/>
                </a:solidFill>
                <a:latin typeface="+mn-lt"/>
                <a:cs typeface="DM Sans"/>
              </a:rPr>
              <a:t>How we sized it</a:t>
            </a:r>
            <a:endParaRPr lang="en-US" sz="1350" b="1" i="0" kern="0" dirty="0" spc="14">
              <a:solidFill>
                <a:schemeClr val="accent1"/>
              </a:solidFill>
              <a:latin typeface="+mn-lt"/>
              <a:cs typeface="DM Sans"/>
            </a:endParaRPr>
          </a:p>
        </p:txBody>
      </p:sp>
      <p:sp>
        <p:nvSpPr>
          <p:cNvPr id="6" name="TextBox 5"/>
          <p:cNvSpPr txBox="1"/>
          <p:nvPr/>
        </p:nvSpPr>
        <p:spPr>
          <a:xfrm>
            <a:off x="8077200" y="2695575"/>
            <a:ext cx="3430714" cy="75247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chemeClr val="dk1"/>
                </a:solidFill>
                <a:latin typeface="+mn-lt"/>
                <a:cs typeface="DM Sans"/>
              </a:rPr>
              <a:t>9,400 stores in the top 50 metros have a flat, load-rated roof over 25,000 sq ft. At $413k a roof, that is $3.9B.</a:t>
            </a:r>
            <a:endParaRPr lang="en-US" sz="1350" b="0" i="0" kern="0" dirty="0">
              <a:solidFill>
                <a:schemeClr val="dk1"/>
              </a:solidFill>
              <a:latin typeface="+mn-lt"/>
              <a:cs typeface="DM Sans"/>
            </a:endParaRPr>
          </a:p>
        </p:txBody>
      </p:sp>
      <p:sp>
        <p:nvSpPr>
          <p:cNvPr id="7" name="Rectangle 6"/>
          <p:cNvSpPr/>
          <p:nvPr/>
        </p:nvSpPr>
        <p:spPr>
          <a:xfrm>
            <a:off x="8077200" y="3705225"/>
            <a:ext cx="3505200" cy="9525"/>
          </a:xfrm>
          <a:prstGeom prst="rect">
            <a:avLst/>
          </a:prstGeom>
          <a:solidFill>
            <a:schemeClr val="accent1">
              <a:alpha val="30000"/>
            </a:schemeClr>
          </a:solidFill>
          <a:ln>
            <a:noFill/>
          </a:ln>
        </p:spPr>
        <p:txBody>
          <a:bodyPr rtlCol="0" anchor="ctr"/>
          <a:lstStyle/>
          <a:p>
            <a:pPr algn="ctr"/>
          </a:p>
        </p:txBody>
      </p:sp>
      <p:sp>
        <p:nvSpPr>
          <p:cNvPr id="8" name="TextBox 7"/>
          <p:cNvSpPr txBox="1"/>
          <p:nvPr/>
        </p:nvSpPr>
        <p:spPr>
          <a:xfrm>
            <a:off x="8077200" y="3924300"/>
            <a:ext cx="3505200" cy="495300"/>
          </a:xfrm>
          <a:prstGeom prst="rect">
            <a:avLst/>
          </a:prstGeom>
          <a:noFill/>
        </p:spPr>
        <p:txBody>
          <a:bodyPr wrap="none" lIns="0" tIns="9525" rIns="0" bIns="0" anchor="t" rtlCol="0">
            <a:noAutofit/>
          </a:bodyPr>
          <a:lstStyle/>
          <a:p>
            <a:pPr algn="l">
              <a:lnSpc>
                <a:spcPts val="3900"/>
              </a:lnSpc>
              <a:spcBef>
                <a:spcPts val="0"/>
              </a:spcBef>
              <a:spcAft>
                <a:spcPts val="0"/>
              </a:spcAft>
              <a:buNone/>
            </a:pPr>
            <a:r>
              <a:rPr lang="en-US" sz="3300" b="0" i="0" kern="0" dirty="0" spc="-99">
                <a:solidFill>
                  <a:schemeClr val="accent2"/>
                </a:solidFill>
                <a:latin typeface="Fraunces SemiBold"/>
                <a:cs typeface="Fraunces SemiBold"/>
              </a:rPr>
              <a:t>4%</a:t>
            </a:r>
            <a:endParaRPr lang="en-US" sz="3300" b="0" i="0" kern="0" dirty="0" spc="-99">
              <a:solidFill>
                <a:schemeClr val="accent2"/>
              </a:solidFill>
              <a:latin typeface="Fraunces SemiBold"/>
              <a:cs typeface="Fraunces SemiBold"/>
            </a:endParaRPr>
          </a:p>
        </p:txBody>
      </p:sp>
      <p:sp>
        <p:nvSpPr>
          <p:cNvPr id="9" name="TextBox 8"/>
          <p:cNvSpPr txBox="1"/>
          <p:nvPr/>
        </p:nvSpPr>
        <p:spPr>
          <a:xfrm>
            <a:off x="8077200" y="4486275"/>
            <a:ext cx="373380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chemeClr val="dk1"/>
                </a:solidFill>
                <a:latin typeface="+mn-lt"/>
                <a:cs typeface="DM Sans"/>
              </a:rPr>
              <a:t>of those roofs are our 2030 goal:</a:t>
            </a:r>
            <a:br>
              <a:rPr lang="en-US" sz="1350" b="0" i="0" kern="0" dirty="0">
                <a:solidFill>
                  <a:schemeClr val="dk1"/>
                </a:solidFill>
                <a:latin typeface="+mn-lt"/>
                <a:cs typeface="DM Sans"/>
              </a:rPr>
            </a:br>
            <a:r>
              <a:rPr lang="en-US" sz="1350" b="0" i="0" kern="0" dirty="0">
                <a:solidFill>
                  <a:schemeClr val="dk1"/>
                </a:solidFill>
                <a:latin typeface="+mn-lt"/>
                <a:cs typeface="DM Sans"/>
              </a:rPr>
              <a:t>400 roofs, $165M a year.</a:t>
            </a:r>
            <a:endParaRPr lang="en-US" sz="1350" b="0" i="0" kern="0" dirty="0">
              <a:solidFill>
                <a:schemeClr val="dk1"/>
              </a:solidFill>
              <a:latin typeface="+mn-lt"/>
              <a:cs typeface="DM Sans"/>
            </a:endParaRPr>
          </a:p>
        </p:txBody>
      </p:sp>
      <p:sp>
        <p:nvSpPr>
          <p:cNvPr id="10" name="TextBox 9"/>
          <p:cNvSpPr txBox="1"/>
          <p:nvPr/>
        </p:nvSpPr>
        <p:spPr>
          <a:xfrm>
            <a:off x="609600" y="6286500"/>
            <a:ext cx="72390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chemeClr val="dk1"/>
                </a:solidFill>
                <a:latin typeface="+mn-lt"/>
                <a:cs typeface="DM Sans"/>
              </a:rPr>
              <a:t>Fernway market analysis, illustrative. TAM: US grocery spend on leafy greens and herbs.</a:t>
            </a:r>
            <a:endParaRPr lang="en-US" sz="1050" b="0" i="0" kern="0" dirty="0">
              <a:solidFill>
                <a:schemeClr val="dk1"/>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pic>
        <p:nvPicPr>
          <p:cNvPr id="2" name="Roofline" descr="svg-5934829f191b9252.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381000"/>
            <a:ext cx="10972800" cy="247650"/>
          </a:xfrm>
          <a:prstGeom prst="rect">
            <a:avLst/>
          </a:prstGeom>
        </p:spPr>
      </p:pic>
      <p:sp>
        <p:nvSpPr>
          <p:cNvPr id="3"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Only rooftop growing skips the truck</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and costs the grocer nothing</a:t>
            </a:r>
            <a:endParaRPr lang="en-US" sz="3300" b="0" i="0" kern="0" dirty="0" spc="-50">
              <a:solidFill>
                <a:schemeClr val="accent1"/>
              </a:solidFill>
              <a:latin typeface="Fraunces SemiBold"/>
              <a:cs typeface="Fraunces SemiBold"/>
            </a:endParaRPr>
          </a:p>
        </p:txBody>
      </p:sp>
      <p:graphicFrame>
        <p:nvGraphicFramePr>
          <p:cNvPr id="4" name="Comparison table"/>
          <p:cNvGraphicFramePr>
            <a:graphicFrameLocks noGrp="1"/>
          </p:cNvGraphicFramePr>
          <p:nvPr/>
        </p:nvGraphicFramePr>
        <p:xfrm>
          <a:off x="609600" y="2362200"/>
          <a:ext cx="10972801" cy="3400425"/>
        </p:xfrm>
        <a:graphic>
          <a:graphicData uri="http://schemas.openxmlformats.org/drawingml/2006/table">
            <a:tbl>
              <a:tblPr firstRow="0" bandRow="0" firstCol="0" lastRow="0" lastCol="0" bandCol="0">
                <a:tableStyleId>{2D5ABB26-0587-4C30-8999-92F81FD0307C}</a:tableStyleId>
              </a:tblPr>
              <a:tblGrid>
                <a:gridCol w="3619500"/>
                <a:gridCol w="1920145"/>
                <a:gridCol w="1685449"/>
                <a:gridCol w="1593247"/>
                <a:gridCol w="2154460"/>
              </a:tblGrid>
              <a:tr h="390525">
                <a:tc>
                  <a: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DM Sans Medium"/>
                          <a:cs typeface="DM Sans Medium"/>
                        </a:rPr>
                        <a:t>Model</a:t>
                      </a:r>
                      <a:endParaRPr lang="en-US" sz="1350" b="0" i="0" kern="0" dirty="0">
                        <a:solidFill>
                          <a:srgbClr val="49564B"/>
                        </a:solidFill>
                        <a:latin typeface="DM Sans Medium"/>
                        <a:cs typeface="DM Sans Medium"/>
                      </a:endParaRPr>
                    </a:p>
                  </a:txBody>
                  <a:tcPr marL="152400" marR="152400" marT="0" marB="152400" anchor="ctr">
                    <a:lnB w="19050">
                      <a:solidFill>
                        <a:schemeClr val="accent1"/>
                      </a:solidFill>
                    </a:lnB>
                    <a:noFill/>
                  </a:tcPr>
                </a:tc>
                <a:tc>
                  <a:txBody>
                    <a:bodyPr wrap="square" lIns="0" tIns="0" rIns="0" bIns="0" anchor="t" rtlCol="0">
                      <a:noAutofit/>
                    </a:bodyPr>
                    <a:lstStyle/>
                    <a:p>
                      <a:pPr algn="r">
                        <a:lnSpc>
                          <a:spcPts val="1950"/>
                        </a:lnSpc>
                        <a:spcBef>
                          <a:spcPts val="0"/>
                        </a:spcBef>
                        <a:spcAft>
                          <a:spcPts val="0"/>
                        </a:spcAft>
                        <a:buNone/>
                      </a:pPr>
                      <a:r>
                        <a:rPr lang="en-US" sz="1350" b="0" i="0" kern="0" dirty="0">
                          <a:solidFill>
                            <a:srgbClr val="49564B"/>
                          </a:solidFill>
                          <a:latin typeface="DM Sans Medium"/>
                          <a:cs typeface="DM Sans Medium"/>
                        </a:rPr>
                        <a:t>Distance to shelf</a:t>
                      </a:r>
                      <a:endParaRPr lang="en-US" sz="1350" b="0" i="0" kern="0" dirty="0">
                        <a:solidFill>
                          <a:srgbClr val="49564B"/>
                        </a:solidFill>
                        <a:latin typeface="DM Sans Medium"/>
                        <a:cs typeface="DM Sans Medium"/>
                      </a:endParaRPr>
                    </a:p>
                  </a:txBody>
                  <a:tcPr marL="152400" marR="152400" marT="0" marB="152400" anchor="ctr">
                    <a:lnB w="19050">
                      <a:solidFill>
                        <a:schemeClr val="accent1"/>
                      </a:solidFill>
                    </a:lnB>
                    <a:noFill/>
                  </a:tcPr>
                </a:tc>
                <a:tc>
                  <a:txBody>
                    <a:bodyPr wrap="square" lIns="0" tIns="0" rIns="0" bIns="0" anchor="t" rtlCol="0">
                      <a:noAutofit/>
                    </a:bodyPr>
                    <a:lstStyle/>
                    <a:p>
                      <a:pPr algn="r">
                        <a:lnSpc>
                          <a:spcPts val="1950"/>
                        </a:lnSpc>
                        <a:spcBef>
                          <a:spcPts val="0"/>
                        </a:spcBef>
                        <a:spcAft>
                          <a:spcPts val="0"/>
                        </a:spcAft>
                        <a:buNone/>
                      </a:pPr>
                      <a:r>
                        <a:rPr lang="en-US" sz="1350" b="0" i="0" kern="0" dirty="0">
                          <a:solidFill>
                            <a:srgbClr val="49564B"/>
                          </a:solidFill>
                          <a:latin typeface="DM Sans Medium"/>
                          <a:cs typeface="DM Sans Medium"/>
                        </a:rPr>
                        <a:t>Cost to grocer</a:t>
                      </a:r>
                      <a:endParaRPr lang="en-US" sz="1350" b="0" i="0" kern="0" dirty="0">
                        <a:solidFill>
                          <a:srgbClr val="49564B"/>
                        </a:solidFill>
                        <a:latin typeface="DM Sans Medium"/>
                        <a:cs typeface="DM Sans Medium"/>
                      </a:endParaRPr>
                    </a:p>
                  </a:txBody>
                  <a:tcPr marL="152400" marR="152400" marT="0" marB="152400" anchor="ctr">
                    <a:lnB w="19050">
                      <a:solidFill>
                        <a:schemeClr val="accent1"/>
                      </a:solidFill>
                    </a:lnB>
                    <a:noFill/>
                  </a:tcPr>
                </a:tc>
                <a:tc>
                  <a:txBody>
                    <a:bodyPr wrap="square" lIns="0" tIns="0" rIns="0" bIns="0" anchor="t" rtlCol="0">
                      <a:noAutofit/>
                    </a:bodyPr>
                    <a:lstStyle/>
                    <a:p>
                      <a:pPr algn="r">
                        <a:lnSpc>
                          <a:spcPts val="1950"/>
                        </a:lnSpc>
                        <a:spcBef>
                          <a:spcPts val="0"/>
                        </a:spcBef>
                        <a:spcAft>
                          <a:spcPts val="0"/>
                        </a:spcAft>
                        <a:buNone/>
                      </a:pPr>
                      <a:r>
                        <a:rPr lang="en-US" sz="1350" b="0" i="0" kern="0" dirty="0">
                          <a:solidFill>
                            <a:srgbClr val="49564B"/>
                          </a:solidFill>
                          <a:latin typeface="DM Sans Medium"/>
                          <a:cs typeface="DM Sans Medium"/>
                        </a:rPr>
                        <a:t>Shelf life</a:t>
                      </a:r>
                      <a:endParaRPr lang="en-US" sz="1350" b="0" i="0" kern="0" dirty="0">
                        <a:solidFill>
                          <a:srgbClr val="49564B"/>
                        </a:solidFill>
                        <a:latin typeface="DM Sans Medium"/>
                        <a:cs typeface="DM Sans Medium"/>
                      </a:endParaRPr>
                    </a:p>
                  </a:txBody>
                  <a:tcPr marL="152400" marR="152400" marT="0" marB="152400" anchor="ctr">
                    <a:lnB w="19050">
                      <a:solidFill>
                        <a:schemeClr val="accent1"/>
                      </a:solidFill>
                    </a:lnB>
                    <a:noFill/>
                  </a:tcPr>
                </a:tc>
                <a:tc>
                  <a:txBody>
                    <a:bodyPr wrap="square" lIns="0" tIns="0" rIns="0" bIns="0" anchor="t" rtlCol="0">
                      <a:noAutofit/>
                    </a:bodyPr>
                    <a:lstStyle/>
                    <a:p>
                      <a:pPr algn="r">
                        <a:lnSpc>
                          <a:spcPts val="1950"/>
                        </a:lnSpc>
                        <a:spcBef>
                          <a:spcPts val="0"/>
                        </a:spcBef>
                        <a:spcAft>
                          <a:spcPts val="0"/>
                        </a:spcAft>
                        <a:buNone/>
                      </a:pPr>
                      <a:r>
                        <a:rPr lang="en-US" sz="1350" b="0" i="0" kern="0" dirty="0">
                          <a:solidFill>
                            <a:srgbClr val="49564B"/>
                          </a:solidFill>
                          <a:latin typeface="DM Sans Medium"/>
                          <a:cs typeface="DM Sans Medium"/>
                        </a:rPr>
                        <a:t>Energy per lb</a:t>
                      </a:r>
                      <a:endParaRPr lang="en-US" sz="1350" b="0" i="0" kern="0" dirty="0">
                        <a:solidFill>
                          <a:srgbClr val="49564B"/>
                        </a:solidFill>
                        <a:latin typeface="DM Sans Medium"/>
                        <a:cs typeface="DM Sans Medium"/>
                      </a:endParaRPr>
                    </a:p>
                  </a:txBody>
                  <a:tcPr marL="152400" marR="152400" marT="0" marB="152400" anchor="ctr">
                    <a:lnB w="19050">
                      <a:solidFill>
                        <a:schemeClr val="accent1"/>
                      </a:solidFill>
                    </a:lnB>
                    <a:noFill/>
                  </a:tcPr>
                </a:tc>
              </a:tr>
              <a:tr h="757238">
                <a:tc>
                  <a:txBody>
                    <a:bodyPr wrap="square" lIns="0" tIns="0" rIns="0" bIns="0" anchor="t" rtlCol="0">
                      <a:noAutofit/>
                    </a:bodyPr>
                    <a:lstStyle/>
                    <a:p>
                      <a:pPr algn="l">
                        <a:lnSpc>
                          <a:spcPts val="2250"/>
                        </a:lnSpc>
                        <a:spcBef>
                          <a:spcPts val="0"/>
                        </a:spcBef>
                        <a:spcAft>
                          <a:spcPts val="0"/>
                        </a:spcAft>
                        <a:buNone/>
                      </a:pPr>
                      <a:r>
                        <a:rPr lang="en-US" sz="2100" b="0" i="0" kern="0" dirty="0">
                          <a:solidFill>
                            <a:schemeClr val="accent1"/>
                          </a:solidFill>
                          <a:latin typeface="Fraunces SemiBold"/>
                          <a:cs typeface="Fraunces SemiBold"/>
                        </a:rPr>
                        <a:t>Fernway rooftop</a:t>
                      </a:r>
                      <a:endParaRPr lang="en-US" sz="2100" b="0" i="0" kern="0" dirty="0">
                        <a:solidFill>
                          <a:schemeClr val="accent1"/>
                        </a:solidFill>
                        <a:latin typeface="Fraunces SemiBold"/>
                        <a:cs typeface="Fraunces SemiBold"/>
                      </a:endParaRPr>
                    </a:p>
                  </a:txBody>
                  <a:tcPr marL="152400" marR="152400" marT="250822" marB="228600" anchor="ctr">
                    <a:solidFill>
                      <a:schemeClr val="lt2"/>
                    </a:solid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1 floor</a:t>
                      </a:r>
                      <a:endParaRPr lang="en-US" sz="1650" b="1" i="0" kern="0" dirty="0">
                        <a:solidFill>
                          <a:schemeClr val="accent1"/>
                        </a:solidFill>
                        <a:latin typeface="+mn-lt"/>
                        <a:cs typeface="DM Sans"/>
                      </a:endParaRPr>
                    </a:p>
                  </a:txBody>
                  <a:tcPr marL="152400" marR="152400" marT="228600" marB="228600" anchor="ctr">
                    <a:solidFill>
                      <a:schemeClr val="lt2"/>
                    </a:solid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$0</a:t>
                      </a:r>
                      <a:endParaRPr lang="en-US" sz="1650" b="1" i="0" kern="0" dirty="0">
                        <a:solidFill>
                          <a:schemeClr val="accent1"/>
                        </a:solidFill>
                        <a:latin typeface="+mn-lt"/>
                        <a:cs typeface="DM Sans"/>
                      </a:endParaRPr>
                    </a:p>
                  </a:txBody>
                  <a:tcPr marL="152400" marR="152400" marT="228600" marB="228600" anchor="ctr">
                    <a:solidFill>
                      <a:schemeClr val="lt2"/>
                    </a:solid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12–14 days</a:t>
                      </a:r>
                      <a:endParaRPr lang="en-US" sz="1650" b="1" i="0" kern="0" dirty="0">
                        <a:solidFill>
                          <a:schemeClr val="accent1"/>
                        </a:solidFill>
                        <a:latin typeface="+mn-lt"/>
                        <a:cs typeface="DM Sans"/>
                      </a:endParaRPr>
                    </a:p>
                  </a:txBody>
                  <a:tcPr marL="152400" marR="152400" marT="228600" marB="228600" anchor="ctr">
                    <a:solidFill>
                      <a:schemeClr val="lt2"/>
                    </a:solid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2 kWh</a:t>
                      </a:r>
                      <a:endParaRPr lang="en-US" sz="1650" b="1" i="0" kern="0" dirty="0">
                        <a:solidFill>
                          <a:schemeClr val="accent1"/>
                        </a:solidFill>
                        <a:latin typeface="+mn-lt"/>
                        <a:cs typeface="DM Sans"/>
                      </a:endParaRPr>
                    </a:p>
                  </a:txBody>
                  <a:tcPr marL="152400" marR="152400" marT="228600" marB="228600" anchor="ctr">
                    <a:solidFill>
                      <a:schemeClr val="lt2"/>
                    </a:solidFill>
                  </a:tcPr>
                </a:tc>
              </a:tr>
              <a:tr h="752475">
                <a:tc>
                  <a:txBody>
                    <a:bodyPr wrap="square" lIns="0" tIns="0" rIns="0" bIns="0" anchor="t" rtlCol="0">
                      <a:noAutofit/>
                    </a:bodyPr>
                    <a:lstStyle/>
                    <a:p>
                      <a:pPr algn="l">
                        <a:lnSpc>
                          <a:spcPts val="2250"/>
                        </a:lnSpc>
                        <a:spcBef>
                          <a:spcPts val="0"/>
                        </a:spcBef>
                        <a:spcAft>
                          <a:spcPts val="0"/>
                        </a:spcAft>
                        <a:buNone/>
                      </a:pPr>
                      <a:r>
                        <a:rPr lang="en-US" sz="1650" b="0" i="0" kern="0" dirty="0">
                          <a:solidFill>
                            <a:schemeClr val="dk1"/>
                          </a:solidFill>
                          <a:latin typeface="+mn-lt"/>
                          <a:cs typeface="DM Sans"/>
                        </a:rPr>
                        <a:t>Indoor vertical farm</a:t>
                      </a:r>
                      <a:endParaRPr lang="en-US" sz="1650" b="0" i="0" kern="0" dirty="0">
                        <a:solidFill>
                          <a:schemeClr val="dk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40–150 miles</a:t>
                      </a:r>
                      <a:endParaRPr lang="en-US" sz="1650" b="1" i="0" kern="0" dirty="0">
                        <a:solidFill>
                          <a:schemeClr val="accent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$0</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10–12 days</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11 kWh</a:t>
                      </a:r>
                      <a:endParaRPr lang="en-US" sz="1650" b="0" i="0" kern="0" dirty="0">
                        <a:solidFill>
                          <a:schemeClr val="accent6"/>
                        </a:solidFill>
                        <a:latin typeface="+mn-lt"/>
                        <a:cs typeface="DM Sans"/>
                      </a:endParaRPr>
                    </a:p>
                  </a:txBody>
                  <a:tcPr marL="152400" marR="152400" marT="223838" marB="228600" anchor="ctr">
                    <a:noFill/>
                  </a:tcPr>
                </a:tc>
              </a:tr>
              <a:tr h="752475">
                <a:tc>
                  <a:txBody>
                    <a:bodyPr wrap="square" lIns="0" tIns="0" rIns="0" bIns="0" anchor="t" rtlCol="0">
                      <a:noAutofit/>
                    </a:bodyPr>
                    <a:lstStyle/>
                    <a:p>
                      <a:pPr algn="l">
                        <a:lnSpc>
                          <a:spcPts val="2250"/>
                        </a:lnSpc>
                        <a:spcBef>
                          <a:spcPts val="0"/>
                        </a:spcBef>
                        <a:spcAft>
                          <a:spcPts val="0"/>
                        </a:spcAft>
                        <a:buNone/>
                      </a:pPr>
                      <a:r>
                        <a:rPr lang="en-US" sz="1650" b="0" i="0" kern="0" dirty="0">
                          <a:solidFill>
                            <a:schemeClr val="dk1"/>
                          </a:solidFill>
                          <a:latin typeface="+mn-lt"/>
                          <a:cs typeface="DM Sans"/>
                        </a:rPr>
                        <a:t>Field farm and cold chain</a:t>
                      </a:r>
                      <a:endParaRPr lang="en-US" sz="1650" b="0" i="0" kern="0" dirty="0">
                        <a:solidFill>
                          <a:schemeClr val="dk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~1,800 miles</a:t>
                      </a:r>
                      <a:endParaRPr lang="en-US" sz="1650" b="1" i="0" kern="0" dirty="0">
                        <a:solidFill>
                          <a:schemeClr val="accent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$0</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5–7 days</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0.4 kWh + diesel</a:t>
                      </a:r>
                      <a:endParaRPr lang="en-US" sz="1650" b="0" i="0" kern="0" dirty="0">
                        <a:solidFill>
                          <a:schemeClr val="accent6"/>
                        </a:solidFill>
                        <a:latin typeface="+mn-lt"/>
                        <a:cs typeface="DM Sans"/>
                      </a:endParaRPr>
                    </a:p>
                  </a:txBody>
                  <a:tcPr marL="152400" marR="152400" marT="223838" marB="228600" anchor="ctr">
                    <a:noFill/>
                  </a:tcPr>
                </a:tc>
              </a:tr>
              <a:tr h="747712">
                <a:tc>
                  <a:txBody>
                    <a:bodyPr wrap="square" lIns="0" tIns="0" rIns="0" bIns="0" anchor="t" rtlCol="0">
                      <a:noAutofit/>
                    </a:bodyPr>
                    <a:lstStyle/>
                    <a:p>
                      <a:pPr algn="l">
                        <a:lnSpc>
                          <a:spcPts val="2250"/>
                        </a:lnSpc>
                        <a:spcBef>
                          <a:spcPts val="0"/>
                        </a:spcBef>
                        <a:spcAft>
                          <a:spcPts val="0"/>
                        </a:spcAft>
                        <a:buNone/>
                      </a:pPr>
                      <a:r>
                        <a:rPr lang="en-US" sz="1650" b="0" i="0" kern="0" dirty="0">
                          <a:solidFill>
                            <a:schemeClr val="dk1"/>
                          </a:solidFill>
                          <a:latin typeface="+mn-lt"/>
                          <a:cs typeface="DM Sans"/>
                        </a:rPr>
                        <a:t>In-store growing cabinets</a:t>
                      </a:r>
                      <a:endParaRPr lang="en-US" sz="1650" b="0" i="0" kern="0" dirty="0">
                        <a:solidFill>
                          <a:schemeClr val="dk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0 miles</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1" i="0" kern="0" dirty="0">
                          <a:solidFill>
                            <a:schemeClr val="accent1"/>
                          </a:solidFill>
                          <a:latin typeface="+mn-lt"/>
                          <a:cs typeface="DM Sans"/>
                        </a:rPr>
                        <a:t>$25k+ each</a:t>
                      </a:r>
                      <a:endParaRPr lang="en-US" sz="1650" b="1" i="0" kern="0" dirty="0">
                        <a:solidFill>
                          <a:schemeClr val="accent1"/>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10 days</a:t>
                      </a:r>
                      <a:endParaRPr lang="en-US" sz="1650" b="0" i="0" kern="0" dirty="0">
                        <a:solidFill>
                          <a:schemeClr val="accent6"/>
                        </a:solidFill>
                        <a:latin typeface="+mn-lt"/>
                        <a:cs typeface="DM Sans"/>
                      </a:endParaRPr>
                    </a:p>
                  </a:txBody>
                  <a:tcPr marL="152400" marR="152400" marT="223838" marB="228600" anchor="ctr">
                    <a:noFill/>
                  </a:tcPr>
                </a:tc>
                <a:tc>
                  <a:txBody>
                    <a:bodyPr wrap="square" lIns="0" tIns="0" rIns="0" bIns="0" anchor="t" rtlCol="0">
                      <a:noAutofit/>
                    </a:bodyPr>
                    <a:lstStyle/>
                    <a:p>
                      <a:pPr algn="r">
                        <a:lnSpc>
                          <a:spcPts val="2250"/>
                        </a:lnSpc>
                        <a:spcBef>
                          <a:spcPts val="0"/>
                        </a:spcBef>
                        <a:spcAft>
                          <a:spcPts val="0"/>
                        </a:spcAft>
                        <a:buNone/>
                      </a:pPr>
                      <a:r>
                        <a:rPr lang="en-US" sz="1650" b="0" i="0" kern="0" dirty="0">
                          <a:solidFill>
                            <a:schemeClr val="accent6"/>
                          </a:solidFill>
                          <a:latin typeface="+mn-lt"/>
                          <a:cs typeface="DM Sans"/>
                        </a:rPr>
                        <a:t>14 kWh</a:t>
                      </a:r>
                      <a:endParaRPr lang="en-US" sz="1650" b="0" i="0" kern="0" dirty="0">
                        <a:solidFill>
                          <a:schemeClr val="accent6"/>
                        </a:solidFill>
                        <a:latin typeface="+mn-lt"/>
                        <a:cs typeface="DM Sans"/>
                      </a:endParaRPr>
                    </a:p>
                  </a:txBody>
                  <a:tcPr marL="152400" marR="152400" marT="223838" marB="228600" anchor="ctr">
                    <a:noFill/>
                  </a:tcPr>
                </a:tc>
              </a:tr>
            </a:tbl>
          </a:graphicData>
        </a:graphic>
      </p:graphicFrame>
      <p:sp>
        <p:nvSpPr>
          <p:cNvPr id="5" name="TextBox 4"/>
          <p:cNvSpPr txBox="1"/>
          <p:nvPr/>
        </p:nvSpPr>
        <p:spPr>
          <a:xfrm>
            <a:off x="609600" y="6286500"/>
            <a:ext cx="85725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49564B"/>
                </a:solidFill>
                <a:latin typeface="+mn-lt"/>
                <a:cs typeface="DM Sans"/>
              </a:rPr>
              <a:t>Fernway competitive analysis, illustrative. Energy per lb of leafy greens, growing only.</a:t>
            </a:r>
            <a:endParaRPr lang="en-US" sz="1050" b="0" i="0" kern="0" dirty="0">
              <a:solidFill>
                <a:srgbClr val="49564B"/>
              </a:solidFill>
              <a:latin typeface="+mn-lt"/>
              <a:cs typeface="DM Sans"/>
            </a:endParaRPr>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bg>
      <p:bgPr>
        <a:solidFill>
          <a:schemeClr val="lt1"/>
        </a:solidFill>
        <a:effectLst/>
      </p:bgPr>
    </p:bg>
    <p:spTree>
      <p:nvGrpSpPr>
        <p:cNvPr id="1" name=""/>
        <p:cNvGrpSpPr/>
        <p:nvPr/>
      </p:nvGrpSpPr>
      <p:grpSpPr/>
      <p:sp>
        <p:nvSpPr>
          <p:cNvPr id="2" name="Headline"/>
          <p:cNvSpPr txBox="1"/>
          <p:nvPr/>
        </p:nvSpPr>
        <p:spPr>
          <a:xfrm>
            <a:off x="609600" y="914400"/>
            <a:ext cx="8801100" cy="990600"/>
          </a:xfrm>
          <a:prstGeom prst="rect">
            <a:avLst/>
          </a:prstGeom>
          <a:noFill/>
        </p:spPr>
        <p:txBody>
          <a:bodyPr wrap="square" lIns="0" tIns="9525" rIns="0" bIns="0" anchor="t" rtlCol="0">
            <a:noAutofit/>
          </a:bodyPr>
          <a:lstStyle/>
          <a:p>
            <a:pPr algn="l">
              <a:lnSpc>
                <a:spcPts val="3900"/>
              </a:lnSpc>
              <a:spcBef>
                <a:spcPts val="0"/>
              </a:spcBef>
              <a:spcAft>
                <a:spcPts val="0"/>
              </a:spcAft>
              <a:buNone/>
            </a:pPr>
            <a:r>
              <a:rPr lang="en-US" sz="3300" b="0" i="0" kern="0" dirty="0" spc="-50">
                <a:solidFill>
                  <a:schemeClr val="accent1"/>
                </a:solidFill>
                <a:latin typeface="Fraunces SemiBold"/>
                <a:cs typeface="Fraunces SemiBold"/>
              </a:rPr>
              <a:t>The seed round takes us from 3 roofs</a:t>
            </a:r>
            <a:br>
              <a:rPr lang="en-US" sz="3300" b="0" i="0" kern="0" dirty="0" spc="-50">
                <a:solidFill>
                  <a:schemeClr val="accent1"/>
                </a:solidFill>
                <a:latin typeface="Fraunces SemiBold"/>
                <a:cs typeface="Fraunces SemiBold"/>
              </a:rPr>
            </a:br>
            <a:r>
              <a:rPr lang="en-US" sz="3300" b="0" i="0" kern="0" dirty="0" spc="-50">
                <a:solidFill>
                  <a:schemeClr val="accent1"/>
                </a:solidFill>
                <a:latin typeface="Fraunces SemiBold"/>
                <a:cs typeface="Fraunces SemiBold"/>
              </a:rPr>
              <a:t>to 20 by 2028</a:t>
            </a:r>
            <a:endParaRPr lang="en-US" sz="3300" b="0" i="0" kern="0" dirty="0" spc="-50">
              <a:solidFill>
                <a:schemeClr val="accent1"/>
              </a:solidFill>
              <a:latin typeface="Fraunces SemiBold"/>
              <a:cs typeface="Fraunces SemiBold"/>
            </a:endParaRPr>
          </a:p>
        </p:txBody>
      </p:sp>
      <p:pic>
        <p:nvPicPr>
          <p:cNvPr id="3" name="Roofline timeline" descr="svg-c55551086004a404.png"/>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4762500"/>
            <a:ext cx="10972800" cy="247650"/>
          </a:xfrm>
          <a:prstGeom prst="rect">
            <a:avLst/>
          </a:prstGeom>
        </p:spPr>
      </p:pic>
      <p:grpSp>
        <p:nvGrpSpPr>
          <p:cNvPr id="4" name="2026"/>
          <p:cNvGrpSpPr/>
          <p:nvPr/>
        </p:nvGrpSpPr>
        <p:grpSpPr>
          <a:xfrm>
            <a:off x="609600" y="3619500"/>
            <a:ext cx="3086100" cy="2400300"/>
            <a:chOff x="609600" y="3619500"/>
            <a:chExt cx="3086100" cy="2400300"/>
          </a:xfrm>
        </p:grpSpPr>
        <p:sp>
          <p:nvSpPr>
            <p:cNvPr id="5" name="TextBox 4"/>
            <p:cNvSpPr txBox="1"/>
            <p:nvPr/>
          </p:nvSpPr>
          <p:spPr>
            <a:xfrm>
              <a:off x="609600" y="3619500"/>
              <a:ext cx="2857500" cy="914400"/>
            </a:xfrm>
            <a:prstGeom prst="rect">
              <a:avLst/>
            </a:prstGeom>
            <a:noFill/>
          </p:spPr>
          <p:txBody>
            <a:bodyPr wrap="none" lIns="0" tIns="152400" rIns="0" bIns="0" anchor="t" rtlCol="0">
              <a:noAutofit/>
            </a:bodyPr>
            <a:lstStyle/>
            <a:p>
              <a:pPr algn="l">
                <a:lnSpc>
                  <a:spcPts val="7200"/>
                </a:lnSpc>
                <a:spcBef>
                  <a:spcPts val="0"/>
                </a:spcBef>
                <a:spcAft>
                  <a:spcPts val="0"/>
                </a:spcAft>
                <a:buNone/>
              </a:pPr>
              <a:r>
                <a:rPr lang="en-US" sz="8400" b="0" i="0" kern="0" dirty="0" spc="-252">
                  <a:solidFill>
                    <a:schemeClr val="accent1"/>
                  </a:solidFill>
                  <a:latin typeface="Fraunces SemiBold"/>
                  <a:cs typeface="Fraunces SemiBold"/>
                </a:rPr>
                <a:t>3</a:t>
              </a:r>
              <a:endParaRPr lang="en-US" sz="8400" b="0" i="0" kern="0" dirty="0" spc="-252">
                <a:solidFill>
                  <a:schemeClr val="accent1"/>
                </a:solidFill>
                <a:latin typeface="Fraunces SemiBold"/>
                <a:cs typeface="Fraunces SemiBold"/>
              </a:endParaRPr>
            </a:p>
          </p:txBody>
        </p:sp>
        <p:sp>
          <p:nvSpPr>
            <p:cNvPr id="6" name="TextBox 5"/>
            <p:cNvSpPr txBox="1"/>
            <p:nvPr/>
          </p:nvSpPr>
          <p:spPr>
            <a:xfrm>
              <a:off x="609600" y="5210175"/>
              <a:ext cx="2857500" cy="314325"/>
            </a:xfrm>
            <a:prstGeom prst="rect">
              <a:avLst/>
            </a:prstGeom>
            <a:noFill/>
          </p:spPr>
          <p:txBody>
            <a:bodyPr wrap="none" lIns="0" tIns="0" rIns="0" bIns="0" anchor="t" rtlCol="0">
              <a:noAutofit/>
            </a:bodyPr>
            <a:lstStyle/>
            <a:p>
              <a:pPr algn="l">
                <a:lnSpc>
                  <a:spcPts val="2400"/>
                </a:lnSpc>
                <a:spcBef>
                  <a:spcPts val="0"/>
                </a:spcBef>
                <a:spcAft>
                  <a:spcPts val="0"/>
                </a:spcAft>
                <a:buNone/>
              </a:pPr>
              <a:r>
                <a:rPr lang="en-US" sz="1650" b="1" i="0" kern="0" dirty="0">
                  <a:solidFill>
                    <a:schemeClr val="accent1"/>
                  </a:solidFill>
                  <a:latin typeface="+mn-lt"/>
                  <a:cs typeface="DM Sans"/>
                </a:rPr>
                <a:t>2026</a:t>
              </a:r>
              <a:endParaRPr lang="en-US" sz="1650" b="1" i="0" kern="0" dirty="0">
                <a:solidFill>
                  <a:schemeClr val="accent1"/>
                </a:solidFill>
                <a:latin typeface="+mn-lt"/>
                <a:cs typeface="DM Sans"/>
              </a:endParaRPr>
            </a:p>
          </p:txBody>
        </p:sp>
        <p:sp>
          <p:nvSpPr>
            <p:cNvPr id="7" name="TextBox 6"/>
            <p:cNvSpPr txBox="1"/>
            <p:nvPr/>
          </p:nvSpPr>
          <p:spPr>
            <a:xfrm>
              <a:off x="609600" y="5514975"/>
              <a:ext cx="308610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Three pilot roofs live</a:t>
              </a:r>
              <a:br>
                <a:rPr lang="en-US" sz="1350" b="0" i="0" kern="0" dirty="0">
                  <a:solidFill>
                    <a:srgbClr val="49564B"/>
                  </a:solidFill>
                  <a:latin typeface="+mn-lt"/>
                  <a:cs typeface="DM Sans"/>
                </a:rPr>
              </a:br>
              <a:r>
                <a:rPr lang="en-US" sz="1350" b="0" i="0" kern="0" dirty="0">
                  <a:solidFill>
                    <a:srgbClr val="49564B"/>
                  </a:solidFill>
                  <a:latin typeface="+mn-lt"/>
                  <a:cs typeface="DM Sans"/>
                </a:rPr>
                <a:t>with one regional grocer</a:t>
              </a:r>
              <a:endParaRPr lang="en-US" sz="1350" b="0" i="0" kern="0" dirty="0">
                <a:solidFill>
                  <a:srgbClr val="49564B"/>
                </a:solidFill>
                <a:latin typeface="+mn-lt"/>
                <a:cs typeface="DM Sans"/>
              </a:endParaRPr>
            </a:p>
          </p:txBody>
        </p:sp>
      </p:grpSp>
      <p:grpSp>
        <p:nvGrpSpPr>
          <p:cNvPr id="8" name="2027"/>
          <p:cNvGrpSpPr/>
          <p:nvPr/>
        </p:nvGrpSpPr>
        <p:grpSpPr>
          <a:xfrm>
            <a:off x="4343400" y="3162300"/>
            <a:ext cx="3086100" cy="2857500"/>
            <a:chOff x="4343400" y="3162300"/>
            <a:chExt cx="3086100" cy="2857500"/>
          </a:xfrm>
        </p:grpSpPr>
        <p:sp>
          <p:nvSpPr>
            <p:cNvPr id="9" name="TextBox 8"/>
            <p:cNvSpPr txBox="1"/>
            <p:nvPr/>
          </p:nvSpPr>
          <p:spPr>
            <a:xfrm>
              <a:off x="4343400" y="3162300"/>
              <a:ext cx="2857500" cy="1447800"/>
            </a:xfrm>
            <a:prstGeom prst="rect">
              <a:avLst/>
            </a:prstGeom>
            <a:noFill/>
          </p:spPr>
          <p:txBody>
            <a:bodyPr wrap="none" lIns="0" tIns="209550" rIns="0" bIns="0" anchor="t" rtlCol="0">
              <a:noAutofit/>
            </a:bodyPr>
            <a:lstStyle/>
            <a:p>
              <a:pPr algn="l">
                <a:lnSpc>
                  <a:spcPts val="11400"/>
                </a:lnSpc>
                <a:spcBef>
                  <a:spcPts val="0"/>
                </a:spcBef>
                <a:spcAft>
                  <a:spcPts val="0"/>
                </a:spcAft>
                <a:buNone/>
              </a:pPr>
              <a:r>
                <a:rPr lang="en-US" sz="12600" b="0" i="0" kern="0" dirty="0" spc="-378">
                  <a:solidFill>
                    <a:schemeClr val="accent1"/>
                  </a:solidFill>
                  <a:latin typeface="Fraunces SemiBold"/>
                  <a:cs typeface="Fraunces SemiBold"/>
                </a:rPr>
                <a:t>9</a:t>
              </a:r>
              <a:endParaRPr lang="en-US" sz="12600" b="0" i="0" kern="0" dirty="0" spc="-378">
                <a:solidFill>
                  <a:schemeClr val="accent1"/>
                </a:solidFill>
                <a:latin typeface="Fraunces SemiBold"/>
                <a:cs typeface="Fraunces SemiBold"/>
              </a:endParaRPr>
            </a:p>
          </p:txBody>
        </p:sp>
        <p:sp>
          <p:nvSpPr>
            <p:cNvPr id="10" name="TextBox 9"/>
            <p:cNvSpPr txBox="1"/>
            <p:nvPr/>
          </p:nvSpPr>
          <p:spPr>
            <a:xfrm>
              <a:off x="4343400" y="5210175"/>
              <a:ext cx="2857500" cy="314325"/>
            </a:xfrm>
            <a:prstGeom prst="rect">
              <a:avLst/>
            </a:prstGeom>
            <a:noFill/>
          </p:spPr>
          <p:txBody>
            <a:bodyPr wrap="none" lIns="0" tIns="0" rIns="0" bIns="0" anchor="t" rtlCol="0">
              <a:noAutofit/>
            </a:bodyPr>
            <a:lstStyle/>
            <a:p>
              <a:pPr algn="l">
                <a:lnSpc>
                  <a:spcPts val="2400"/>
                </a:lnSpc>
                <a:spcBef>
                  <a:spcPts val="0"/>
                </a:spcBef>
                <a:spcAft>
                  <a:spcPts val="0"/>
                </a:spcAft>
                <a:buNone/>
              </a:pPr>
              <a:r>
                <a:rPr lang="en-US" sz="1650" b="1" i="0" kern="0" dirty="0">
                  <a:solidFill>
                    <a:schemeClr val="accent1"/>
                  </a:solidFill>
                  <a:latin typeface="+mn-lt"/>
                  <a:cs typeface="DM Sans"/>
                </a:rPr>
                <a:t>2027</a:t>
              </a:r>
              <a:endParaRPr lang="en-US" sz="1650" b="1" i="0" kern="0" dirty="0">
                <a:solidFill>
                  <a:schemeClr val="accent1"/>
                </a:solidFill>
                <a:latin typeface="+mn-lt"/>
                <a:cs typeface="DM Sans"/>
              </a:endParaRPr>
            </a:p>
          </p:txBody>
        </p:sp>
        <p:sp>
          <p:nvSpPr>
            <p:cNvPr id="11" name="TextBox 10"/>
            <p:cNvSpPr txBox="1"/>
            <p:nvPr/>
          </p:nvSpPr>
          <p:spPr>
            <a:xfrm>
              <a:off x="4343400" y="5514975"/>
              <a:ext cx="308610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Nine roofs, and a second</a:t>
              </a:r>
              <a:br>
                <a:rPr lang="en-US" sz="1350" b="0" i="0" kern="0" dirty="0">
                  <a:solidFill>
                    <a:srgbClr val="49564B"/>
                  </a:solidFill>
                  <a:latin typeface="+mn-lt"/>
                  <a:cs typeface="DM Sans"/>
                </a:rPr>
              </a:br>
              <a:r>
                <a:rPr lang="en-US" sz="1350" b="0" i="0" kern="0" dirty="0">
                  <a:solidFill>
                    <a:srgbClr val="49564B"/>
                  </a:solidFill>
                  <a:latin typeface="+mn-lt"/>
                  <a:cs typeface="DM Sans"/>
                </a:rPr>
                <a:t>grocery chain signs</a:t>
              </a:r>
              <a:endParaRPr lang="en-US" sz="1350" b="0" i="0" kern="0" dirty="0">
                <a:solidFill>
                  <a:srgbClr val="49564B"/>
                </a:solidFill>
                <a:latin typeface="+mn-lt"/>
                <a:cs typeface="DM Sans"/>
              </a:endParaRPr>
            </a:p>
          </p:txBody>
        </p:sp>
      </p:grpSp>
      <p:grpSp>
        <p:nvGrpSpPr>
          <p:cNvPr id="12" name="2028"/>
          <p:cNvGrpSpPr/>
          <p:nvPr/>
        </p:nvGrpSpPr>
        <p:grpSpPr>
          <a:xfrm>
            <a:off x="7981950" y="2362200"/>
            <a:ext cx="3505200" cy="3657600"/>
            <a:chOff x="7981950" y="2362200"/>
            <a:chExt cx="3505200" cy="3657600"/>
          </a:xfrm>
        </p:grpSpPr>
        <p:sp>
          <p:nvSpPr>
            <p:cNvPr id="13" name="TextBox 12"/>
            <p:cNvSpPr txBox="1"/>
            <p:nvPr/>
          </p:nvSpPr>
          <p:spPr>
            <a:xfrm>
              <a:off x="7981950" y="2362200"/>
              <a:ext cx="3505200" cy="2438400"/>
            </a:xfrm>
            <a:prstGeom prst="rect">
              <a:avLst/>
            </a:prstGeom>
            <a:noFill/>
          </p:spPr>
          <p:txBody>
            <a:bodyPr wrap="none" lIns="0" tIns="266700" rIns="0" bIns="0" anchor="t" rtlCol="0">
              <a:noAutofit/>
            </a:bodyPr>
            <a:lstStyle/>
            <a:p>
              <a:pPr algn="l">
                <a:lnSpc>
                  <a:spcPts val="19200"/>
                </a:lnSpc>
                <a:spcBef>
                  <a:spcPts val="0"/>
                </a:spcBef>
                <a:spcAft>
                  <a:spcPts val="0"/>
                </a:spcAft>
                <a:buNone/>
              </a:pPr>
              <a:r>
                <a:rPr lang="en-US" sz="19200" b="0" i="0" kern="0" dirty="0" spc="-576">
                  <a:solidFill>
                    <a:schemeClr val="accent2"/>
                  </a:solidFill>
                  <a:latin typeface="Fraunces SemiBold"/>
                  <a:cs typeface="Fraunces SemiBold"/>
                </a:rPr>
                <a:t>20</a:t>
              </a:r>
              <a:endParaRPr lang="en-US" sz="19200" b="0" i="0" kern="0" dirty="0" spc="-576">
                <a:solidFill>
                  <a:schemeClr val="accent2"/>
                </a:solidFill>
                <a:latin typeface="Fraunces SemiBold"/>
                <a:cs typeface="Fraunces SemiBold"/>
              </a:endParaRPr>
            </a:p>
          </p:txBody>
        </p:sp>
        <p:sp>
          <p:nvSpPr>
            <p:cNvPr id="14" name="TextBox 13"/>
            <p:cNvSpPr txBox="1"/>
            <p:nvPr/>
          </p:nvSpPr>
          <p:spPr>
            <a:xfrm>
              <a:off x="8077200" y="5210175"/>
              <a:ext cx="2857500" cy="314325"/>
            </a:xfrm>
            <a:prstGeom prst="rect">
              <a:avLst/>
            </a:prstGeom>
            <a:noFill/>
          </p:spPr>
          <p:txBody>
            <a:bodyPr wrap="none" lIns="0" tIns="0" rIns="0" bIns="0" anchor="t" rtlCol="0">
              <a:noAutofit/>
            </a:bodyPr>
            <a:lstStyle/>
            <a:p>
              <a:pPr algn="l">
                <a:lnSpc>
                  <a:spcPts val="2400"/>
                </a:lnSpc>
                <a:spcBef>
                  <a:spcPts val="0"/>
                </a:spcBef>
                <a:spcAft>
                  <a:spcPts val="0"/>
                </a:spcAft>
                <a:buNone/>
              </a:pPr>
              <a:r>
                <a:rPr lang="en-US" sz="1650" b="1" i="0" kern="0" dirty="0">
                  <a:solidFill>
                    <a:schemeClr val="accent1"/>
                  </a:solidFill>
                  <a:latin typeface="+mn-lt"/>
                  <a:cs typeface="DM Sans"/>
                </a:rPr>
                <a:t>End of 2028</a:t>
              </a:r>
              <a:endParaRPr lang="en-US" sz="1650" b="1" i="0" kern="0" dirty="0">
                <a:solidFill>
                  <a:schemeClr val="accent1"/>
                </a:solidFill>
                <a:latin typeface="+mn-lt"/>
                <a:cs typeface="DM Sans"/>
              </a:endParaRPr>
            </a:p>
          </p:txBody>
        </p:sp>
        <p:sp>
          <p:nvSpPr>
            <p:cNvPr id="15" name="TextBox 14"/>
            <p:cNvSpPr txBox="1"/>
            <p:nvPr/>
          </p:nvSpPr>
          <p:spPr>
            <a:xfrm>
              <a:off x="8077200" y="5514975"/>
              <a:ext cx="2857500" cy="504825"/>
            </a:xfrm>
            <a:prstGeom prst="rect">
              <a:avLst/>
            </a:prstGeom>
            <a:noFill/>
          </p:spPr>
          <p:txBody>
            <a:bodyPr wrap="square" lIns="0" tIns="0" rIns="0" bIns="0" anchor="t" rtlCol="0">
              <a:noAutofit/>
            </a:bodyPr>
            <a:lstStyle/>
            <a:p>
              <a:pPr algn="l">
                <a:lnSpc>
                  <a:spcPts val="1950"/>
                </a:lnSpc>
                <a:spcBef>
                  <a:spcPts val="0"/>
                </a:spcBef>
                <a:spcAft>
                  <a:spcPts val="0"/>
                </a:spcAft>
                <a:buNone/>
              </a:pPr>
              <a:r>
                <a:rPr lang="en-US" sz="1350" b="0" i="0" kern="0" dirty="0">
                  <a:solidFill>
                    <a:srgbClr val="49564B"/>
                  </a:solidFill>
                  <a:latin typeface="+mn-lt"/>
                  <a:cs typeface="DM Sans"/>
                </a:rPr>
                <a:t>Twenty roofs and</a:t>
              </a:r>
              <a:br>
                <a:rPr lang="en-US" sz="1350" b="0" i="0" kern="0" dirty="0">
                  <a:solidFill>
                    <a:srgbClr val="49564B"/>
                  </a:solidFill>
                  <a:latin typeface="+mn-lt"/>
                  <a:cs typeface="DM Sans"/>
                </a:rPr>
              </a:br>
              <a:r>
                <a:rPr lang="en-US" sz="1350" b="0" i="0" kern="0" dirty="0">
                  <a:solidFill>
                    <a:srgbClr val="49564B"/>
                  </a:solidFill>
                  <a:latin typeface="+mn-lt"/>
                  <a:cs typeface="DM Sans"/>
                </a:rPr>
                <a:t>an $8.3M run rate</a:t>
              </a:r>
              <a:endParaRPr lang="en-US" sz="1350" b="0" i="0" kern="0" dirty="0">
                <a:solidFill>
                  <a:srgbClr val="49564B"/>
                </a:solidFill>
                <a:latin typeface="+mn-lt"/>
                <a:cs typeface="DM Sans"/>
              </a:endParaRPr>
            </a:p>
          </p:txBody>
        </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left)">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accent1"/>
        </a:solidFill>
        <a:effectLst/>
      </p:bgPr>
    </p:bg>
    <p:spTree>
      <p:nvGrpSpPr>
        <p:cNvPr id="1" name=""/>
        <p:cNvGrpSpPr/>
        <p:nvPr/>
      </p:nvGrpSpPr>
      <p:grpSpPr/>
      <p:pic>
        <p:nvPicPr>
          <p:cNvPr id="2" name="Logo" descr="Fernway"/>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09600" y="609600"/>
            <a:ext cx="1771650" cy="381000"/>
          </a:xfrm>
          <a:prstGeom prst="rect">
            <a:avLst/>
          </a:prstGeom>
        </p:spPr>
      </p:pic>
      <p:sp>
        <p:nvSpPr>
          <p:cNvPr id="3" name="Headline"/>
          <p:cNvSpPr txBox="1"/>
          <p:nvPr/>
        </p:nvSpPr>
        <p:spPr>
          <a:xfrm>
            <a:off x="609600" y="1714500"/>
            <a:ext cx="5943600" cy="1333500"/>
          </a:xfrm>
          <a:prstGeom prst="rect">
            <a:avLst/>
          </a:prstGeom>
          <a:noFill/>
        </p:spPr>
        <p:txBody>
          <a:bodyPr wrap="square" lIns="0" tIns="31747" rIns="0" bIns="0" anchor="t" rtlCol="0">
            <a:noAutofit/>
          </a:bodyPr>
          <a:lstStyle/>
          <a:p>
            <a:pPr algn="l">
              <a:lnSpc>
                <a:spcPts val="5250"/>
              </a:lnSpc>
              <a:spcBef>
                <a:spcPts val="0"/>
              </a:spcBef>
              <a:spcAft>
                <a:spcPts val="0"/>
              </a:spcAft>
              <a:buNone/>
            </a:pPr>
            <a:r>
              <a:rPr lang="en-US" sz="4800" b="0" i="0" kern="0" dirty="0" spc="-96">
                <a:solidFill>
                  <a:schemeClr val="lt1"/>
                </a:solidFill>
                <a:latin typeface="Fraunces SemiBold"/>
                <a:cs typeface="Fraunces SemiBold"/>
              </a:rPr>
              <a:t>Raising $6M to put greens on 20 roofs</a:t>
            </a:r>
            <a:endParaRPr lang="en-US" sz="4800" b="0" i="0" kern="0" dirty="0" spc="-96">
              <a:solidFill>
                <a:schemeClr val="lt1"/>
              </a:solidFill>
              <a:latin typeface="Fraunces SemiBold"/>
              <a:cs typeface="Fraunces SemiBold"/>
            </a:endParaRPr>
          </a:p>
        </p:txBody>
      </p:sp>
      <p:sp>
        <p:nvSpPr>
          <p:cNvPr id="4" name="Funds – roof builds"/>
          <p:cNvSpPr/>
          <p:nvPr/>
        </p:nvSpPr>
        <p:spPr>
          <a:xfrm>
            <a:off x="609600" y="4267200"/>
            <a:ext cx="3028950" cy="133350"/>
          </a:xfrm>
          <a:prstGeom prst="rect">
            <a:avLst/>
          </a:prstGeom>
          <a:solidFill>
            <a:schemeClr val="accent2"/>
          </a:solidFill>
          <a:ln>
            <a:noFill/>
          </a:ln>
        </p:spPr>
        <p:txBody>
          <a:bodyPr rtlCol="0" anchor="ctr"/>
          <a:lstStyle/>
          <a:p>
            <a:pPr algn="ctr"/>
          </a:p>
        </p:txBody>
      </p:sp>
      <p:sp>
        <p:nvSpPr>
          <p:cNvPr id="5" name="Funds – team"/>
          <p:cNvSpPr/>
          <p:nvPr/>
        </p:nvSpPr>
        <p:spPr>
          <a:xfrm>
            <a:off x="3714750" y="4267200"/>
            <a:ext cx="1371600" cy="133350"/>
          </a:xfrm>
          <a:prstGeom prst="rect">
            <a:avLst/>
          </a:prstGeom>
          <a:solidFill>
            <a:schemeClr val="lt1"/>
          </a:solidFill>
          <a:ln>
            <a:noFill/>
          </a:ln>
        </p:spPr>
        <p:txBody>
          <a:bodyPr rtlCol="0" anchor="ctr"/>
          <a:lstStyle/>
          <a:p>
            <a:pPr algn="ctr"/>
          </a:p>
        </p:txBody>
      </p:sp>
      <p:sp>
        <p:nvSpPr>
          <p:cNvPr id="6" name="Funds – software"/>
          <p:cNvSpPr/>
          <p:nvPr/>
        </p:nvSpPr>
        <p:spPr>
          <a:xfrm>
            <a:off x="5162550" y="4267200"/>
            <a:ext cx="781050" cy="133350"/>
          </a:xfrm>
          <a:prstGeom prst="rect">
            <a:avLst/>
          </a:prstGeom>
          <a:solidFill>
            <a:schemeClr val="accent3"/>
          </a:solidFill>
          <a:ln>
            <a:noFill/>
          </a:ln>
        </p:spPr>
        <p:txBody>
          <a:bodyPr rtlCol="0" anchor="ctr"/>
          <a:lstStyle/>
          <a:p>
            <a:pPr algn="ctr"/>
          </a:p>
        </p:txBody>
      </p:sp>
      <p:grpSp>
        <p:nvGrpSpPr>
          <p:cNvPr id="7" name="Funds label 1"/>
          <p:cNvGrpSpPr/>
          <p:nvPr/>
        </p:nvGrpSpPr>
        <p:grpSpPr>
          <a:xfrm>
            <a:off x="609600" y="4552950"/>
            <a:ext cx="2857500" cy="628650"/>
            <a:chOff x="609600" y="4552950"/>
            <a:chExt cx="2857500" cy="628650"/>
          </a:xfrm>
        </p:grpSpPr>
        <p:sp>
          <p:nvSpPr>
            <p:cNvPr id="8" name="TextBox 7"/>
            <p:cNvSpPr txBox="1"/>
            <p:nvPr/>
          </p:nvSpPr>
          <p:spPr>
            <a:xfrm>
              <a:off x="609600" y="4552950"/>
              <a:ext cx="28575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lt1"/>
                  </a:solidFill>
                  <a:latin typeface="Fraunces SemiBold"/>
                  <a:cs typeface="Fraunces SemiBold"/>
                </a:rPr>
                <a:t>$3.5M</a:t>
              </a:r>
              <a:endParaRPr lang="en-US" sz="2700" b="0" i="0" kern="0" dirty="0" spc="-81">
                <a:solidFill>
                  <a:schemeClr val="lt1"/>
                </a:solidFill>
                <a:latin typeface="Fraunces SemiBold"/>
                <a:cs typeface="Fraunces SemiBold"/>
              </a:endParaRPr>
            </a:p>
          </p:txBody>
        </p:sp>
        <p:sp>
          <p:nvSpPr>
            <p:cNvPr id="9" name="TextBox 8"/>
            <p:cNvSpPr txBox="1"/>
            <p:nvPr/>
          </p:nvSpPr>
          <p:spPr>
            <a:xfrm>
              <a:off x="609600" y="4924425"/>
              <a:ext cx="285750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CFD0C3"/>
                  </a:solidFill>
                  <a:latin typeface="+mn-lt"/>
                  <a:cs typeface="DM Sans"/>
                </a:rPr>
                <a:t>roof builds</a:t>
              </a:r>
              <a:endParaRPr lang="en-US" sz="1350" b="0" i="0" kern="0" dirty="0">
                <a:solidFill>
                  <a:srgbClr val="CFD0C3"/>
                </a:solidFill>
                <a:latin typeface="+mn-lt"/>
                <a:cs typeface="DM Sans"/>
              </a:endParaRPr>
            </a:p>
          </p:txBody>
        </p:sp>
      </p:grpSp>
      <p:grpSp>
        <p:nvGrpSpPr>
          <p:cNvPr id="10" name="Funds label 2"/>
          <p:cNvGrpSpPr/>
          <p:nvPr/>
        </p:nvGrpSpPr>
        <p:grpSpPr>
          <a:xfrm>
            <a:off x="3714750" y="4552950"/>
            <a:ext cx="1371600" cy="628650"/>
            <a:chOff x="3714750" y="4552950"/>
            <a:chExt cx="1371600" cy="628650"/>
          </a:xfrm>
        </p:grpSpPr>
        <p:sp>
          <p:nvSpPr>
            <p:cNvPr id="11" name="TextBox 10"/>
            <p:cNvSpPr txBox="1"/>
            <p:nvPr/>
          </p:nvSpPr>
          <p:spPr>
            <a:xfrm>
              <a:off x="3714750" y="4552950"/>
              <a:ext cx="137160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lt1"/>
                  </a:solidFill>
                  <a:latin typeface="Fraunces SemiBold"/>
                  <a:cs typeface="Fraunces SemiBold"/>
                </a:rPr>
                <a:t>$1.6M</a:t>
              </a:r>
              <a:endParaRPr lang="en-US" sz="2700" b="0" i="0" kern="0" dirty="0" spc="-81">
                <a:solidFill>
                  <a:schemeClr val="lt1"/>
                </a:solidFill>
                <a:latin typeface="Fraunces SemiBold"/>
                <a:cs typeface="Fraunces SemiBold"/>
              </a:endParaRPr>
            </a:p>
          </p:txBody>
        </p:sp>
        <p:sp>
          <p:nvSpPr>
            <p:cNvPr id="12" name="TextBox 11"/>
            <p:cNvSpPr txBox="1"/>
            <p:nvPr/>
          </p:nvSpPr>
          <p:spPr>
            <a:xfrm>
              <a:off x="3714750" y="4924425"/>
              <a:ext cx="137160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CFD0C3"/>
                  </a:solidFill>
                  <a:latin typeface="+mn-lt"/>
                  <a:cs typeface="DM Sans"/>
                </a:rPr>
                <a:t>team and ops</a:t>
              </a:r>
              <a:endParaRPr lang="en-US" sz="1350" b="0" i="0" kern="0" dirty="0">
                <a:solidFill>
                  <a:srgbClr val="CFD0C3"/>
                </a:solidFill>
                <a:latin typeface="+mn-lt"/>
                <a:cs typeface="DM Sans"/>
              </a:endParaRPr>
            </a:p>
          </p:txBody>
        </p:sp>
      </p:grpSp>
      <p:grpSp>
        <p:nvGrpSpPr>
          <p:cNvPr id="13" name="Funds label 3"/>
          <p:cNvGrpSpPr/>
          <p:nvPr/>
        </p:nvGrpSpPr>
        <p:grpSpPr>
          <a:xfrm>
            <a:off x="5162550" y="4552950"/>
            <a:ext cx="1428750" cy="628650"/>
            <a:chOff x="5162550" y="4552950"/>
            <a:chExt cx="1428750" cy="628650"/>
          </a:xfrm>
        </p:grpSpPr>
        <p:sp>
          <p:nvSpPr>
            <p:cNvPr id="14" name="TextBox 13"/>
            <p:cNvSpPr txBox="1"/>
            <p:nvPr/>
          </p:nvSpPr>
          <p:spPr>
            <a:xfrm>
              <a:off x="5162550" y="4552950"/>
              <a:ext cx="1428750" cy="381000"/>
            </a:xfrm>
            <a:prstGeom prst="rect">
              <a:avLst/>
            </a:prstGeom>
            <a:noFill/>
          </p:spPr>
          <p:txBody>
            <a:bodyPr wrap="none" lIns="0" tIns="19050" rIns="0" bIns="0" anchor="t" rtlCol="0">
              <a:noAutofit/>
            </a:bodyPr>
            <a:lstStyle/>
            <a:p>
              <a:pPr algn="l">
                <a:lnSpc>
                  <a:spcPts val="3000"/>
                </a:lnSpc>
                <a:spcBef>
                  <a:spcPts val="0"/>
                </a:spcBef>
                <a:spcAft>
                  <a:spcPts val="0"/>
                </a:spcAft>
                <a:buNone/>
              </a:pPr>
              <a:r>
                <a:rPr lang="en-US" sz="2700" b="0" i="0" kern="0" dirty="0" spc="-81">
                  <a:solidFill>
                    <a:schemeClr val="lt1"/>
                  </a:solidFill>
                  <a:latin typeface="Fraunces SemiBold"/>
                  <a:cs typeface="Fraunces SemiBold"/>
                </a:rPr>
                <a:t>$0.9M</a:t>
              </a:r>
              <a:endParaRPr lang="en-US" sz="2700" b="0" i="0" kern="0" dirty="0" spc="-81">
                <a:solidFill>
                  <a:schemeClr val="lt1"/>
                </a:solidFill>
                <a:latin typeface="Fraunces SemiBold"/>
                <a:cs typeface="Fraunces SemiBold"/>
              </a:endParaRPr>
            </a:p>
          </p:txBody>
        </p:sp>
        <p:sp>
          <p:nvSpPr>
            <p:cNvPr id="15" name="TextBox 14"/>
            <p:cNvSpPr txBox="1"/>
            <p:nvPr/>
          </p:nvSpPr>
          <p:spPr>
            <a:xfrm>
              <a:off x="5162550" y="4924425"/>
              <a:ext cx="1428750" cy="257175"/>
            </a:xfrm>
            <a:prstGeom prst="rect">
              <a:avLst/>
            </a:prstGeom>
            <a:noFill/>
          </p:spPr>
          <p:txBody>
            <a:bodyPr wrap="none" lIns="0" tIns="0" rIns="0" bIns="0" anchor="t" rtlCol="0">
              <a:noAutofit/>
            </a:bodyPr>
            <a:lstStyle/>
            <a:p>
              <a:pPr algn="l">
                <a:lnSpc>
                  <a:spcPts val="1950"/>
                </a:lnSpc>
                <a:spcBef>
                  <a:spcPts val="0"/>
                </a:spcBef>
                <a:spcAft>
                  <a:spcPts val="0"/>
                </a:spcAft>
                <a:buNone/>
              </a:pPr>
              <a:r>
                <a:rPr lang="en-US" sz="1350" b="0" i="0" kern="0" dirty="0">
                  <a:solidFill>
                    <a:srgbClr val="CFD0C3"/>
                  </a:solidFill>
                  <a:latin typeface="+mn-lt"/>
                  <a:cs typeface="DM Sans"/>
                </a:rPr>
                <a:t>software</a:t>
              </a:r>
              <a:endParaRPr lang="en-US" sz="1350" b="0" i="0" kern="0" dirty="0">
                <a:solidFill>
                  <a:srgbClr val="CFD0C3"/>
                </a:solidFill>
                <a:latin typeface="+mn-lt"/>
                <a:cs typeface="DM Sans"/>
              </a:endParaRPr>
            </a:p>
          </p:txBody>
        </p:sp>
      </p:grpSp>
      <p:sp>
        <p:nvSpPr>
          <p:cNvPr id="16" name="Contact"/>
          <p:cNvSpPr txBox="1"/>
          <p:nvPr/>
        </p:nvSpPr>
        <p:spPr>
          <a:xfrm>
            <a:off x="609600" y="5629275"/>
            <a:ext cx="5334000" cy="371475"/>
          </a:xfrm>
          <a:prstGeom prst="rect">
            <a:avLst/>
          </a:prstGeom>
          <a:noFill/>
        </p:spPr>
        <p:txBody>
          <a:bodyPr wrap="none" lIns="0" tIns="0" rIns="0" bIns="0" anchor="t" rtlCol="0">
            <a:noAutofit/>
          </a:bodyPr>
          <a:lstStyle/>
          <a:p>
            <a:pPr algn="l">
              <a:lnSpc>
                <a:spcPts val="2850"/>
              </a:lnSpc>
              <a:spcBef>
                <a:spcPts val="0"/>
              </a:spcBef>
              <a:spcAft>
                <a:spcPts val="0"/>
              </a:spcAft>
              <a:buNone/>
            </a:pPr>
            <a:r>
              <a:rPr lang="en-US" sz="2100" b="0" i="0" kern="0" dirty="0">
                <a:solidFill>
                  <a:schemeClr val="lt1"/>
                </a:solidFill>
                <a:latin typeface="+mn-lt"/>
                <a:cs typeface="DM Sans"/>
              </a:rPr>
              <a:t>founders@fernway.example</a:t>
            </a:r>
            <a:endParaRPr lang="en-US" sz="2100" b="0" i="0" kern="0" dirty="0">
              <a:solidFill>
                <a:schemeClr val="lt1"/>
              </a:solidFill>
              <a:latin typeface="+mn-lt"/>
              <a:cs typeface="DM Sans"/>
            </a:endParaRPr>
          </a:p>
        </p:txBody>
      </p:sp>
      <p:sp>
        <p:nvSpPr>
          <p:cNvPr id="17" name="TextBox 16"/>
          <p:cNvSpPr txBox="1"/>
          <p:nvPr/>
        </p:nvSpPr>
        <p:spPr>
          <a:xfrm>
            <a:off x="609600" y="6286500"/>
            <a:ext cx="5334000" cy="190500"/>
          </a:xfrm>
          <a:prstGeom prst="rect">
            <a:avLst/>
          </a:prstGeom>
          <a:noFill/>
        </p:spPr>
        <p:txBody>
          <a:bodyPr wrap="none" lIns="0" tIns="0" rIns="0" bIns="0" anchor="t" rtlCol="0">
            <a:noAutofit/>
          </a:bodyPr>
          <a:lstStyle/>
          <a:p>
            <a:pPr algn="l">
              <a:lnSpc>
                <a:spcPts val="1500"/>
              </a:lnSpc>
              <a:spcBef>
                <a:spcPts val="0"/>
              </a:spcBef>
              <a:spcAft>
                <a:spcPts val="0"/>
              </a:spcAft>
              <a:buNone/>
            </a:pPr>
            <a:r>
              <a:rPr lang="en-US" sz="1050" b="0" i="0" kern="0" dirty="0">
                <a:solidFill>
                  <a:srgbClr val="CFD0C3"/>
                </a:solidFill>
                <a:latin typeface="+mn-lt"/>
                <a:cs typeface="DM Sans"/>
              </a:rPr>
              <a:t>Fernway is a fictional company. All figures are illustrative.</a:t>
            </a:r>
            <a:endParaRPr lang="en-US" sz="1050" b="0" i="0" kern="0" dirty="0">
              <a:solidFill>
                <a:srgbClr val="CFD0C3"/>
              </a:solidFill>
              <a:latin typeface="+mn-lt"/>
              <a:cs typeface="DM Sans"/>
            </a:endParaRPr>
          </a:p>
        </p:txBody>
      </p:sp>
      <p:pic>
        <p:nvPicPr>
          <p:cNvPr id="18" name="Gable photo" descr="Greenhouse interior with rows of lettuce"/>
          <p:cNvPicPr>
            <a:picLocks noChangeAspect="1"/>
          </p:cNvPicPr>
          <p:nvPr/>
        </p:nvPicPr>
        <p:blipFill>
          <a:blip r:embed="rId4"/>
          <a:stretch>
            <a:fillRect/>
          </a:stretch>
        </p:blipFill>
        <p:spPr>
          <a:xfrm>
            <a:off x="7010400" y="914400"/>
            <a:ext cx="4572000" cy="5943600"/>
          </a:xfrm>
          <a:prstGeom prst="rect">
            <a:avLst/>
          </a:prstGeom>
        </p:spPr>
      </p:pic>
      <p:pic>
        <p:nvPicPr>
          <p:cNvPr id="19" name="Gable roof" descr="svg-3b8f07af03664b0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10400" y="914400"/>
            <a:ext cx="4572000" cy="16002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Fernway">
  <a:themeElements>
    <a:clrScheme name="Fernway">
      <a:dk1>
        <a:srgbClr val="13261B"/>
      </a:dk1>
      <a:lt1>
        <a:srgbClr val="F6F0E4"/>
      </a:lt1>
      <a:dk2>
        <a:srgbClr val="1E3D2C"/>
      </a:dk2>
      <a:lt2>
        <a:srgbClr val="E9DFCC"/>
      </a:lt2>
      <a:accent1>
        <a:srgbClr val="1E3D2C"/>
      </a:accent1>
      <a:accent2>
        <a:srgbClr val="C2593A"/>
      </a:accent2>
      <a:accent3>
        <a:srgbClr val="7F9C7A"/>
      </a:accent3>
      <a:accent4>
        <a:srgbClr val="E3B39C"/>
      </a:accent4>
      <a:accent5>
        <a:srgbClr val="B9C9B3"/>
      </a:accent5>
      <a:accent6>
        <a:srgbClr val="5E6E63"/>
      </a:accent6>
      <a:hlink>
        <a:srgbClr val="1E3D2C"/>
      </a:hlink>
      <a:folHlink>
        <a:srgbClr val="5E6E63"/>
      </a:folHlink>
    </a:clrScheme>
    <a:fontScheme name="Fernway">
      <a:majorFont>
        <a:latin typeface="Fraunce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M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
  <cp:revision>1</cp:revision>
  <dcterms:created xsi:type="dcterms:W3CDTF">2026-10-10T06:57:59Z</dcterms:created>
  <dcterms:modified xsi:type="dcterms:W3CDTF">2026-10-10T06:57:59Z</dcterms:modified>
  <cp:category/>
</cp:coreProperties>
</file>